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72" r:id="rId5"/>
    <p:sldId id="269" r:id="rId6"/>
    <p:sldId id="4703" r:id="rId7"/>
    <p:sldId id="4694" r:id="rId8"/>
    <p:sldId id="4693" r:id="rId9"/>
    <p:sldId id="2660" r:id="rId10"/>
    <p:sldId id="4685" r:id="rId11"/>
    <p:sldId id="3241" r:id="rId12"/>
    <p:sldId id="4701" r:id="rId13"/>
    <p:sldId id="2641" r:id="rId14"/>
    <p:sldId id="3958" r:id="rId15"/>
    <p:sldId id="4134" r:id="rId16"/>
    <p:sldId id="4660" r:id="rId17"/>
    <p:sldId id="4633" r:id="rId18"/>
    <p:sldId id="256" r:id="rId19"/>
    <p:sldId id="4708" r:id="rId20"/>
    <p:sldId id="46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a" initials="D" lastIdx="1" clrIdx="0">
    <p:extLst>
      <p:ext uri="{19B8F6BF-5375-455C-9EA6-DF929625EA0E}">
        <p15:presenceInfo xmlns:p15="http://schemas.microsoft.com/office/powerpoint/2012/main" userId="Dian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7763E0-B844-E390-CA4E-07BDF2863FA0}" v="1" dt="2026-09-25T19:42:47.996"/>
    <p1510:client id="{AAF2C915-07FC-4E70-A2D8-FEEF0669DC19}" v="27" dt="2026-09-25T20:28:20.3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14" d="100"/>
          <a:sy n="114" d="100"/>
        </p:scale>
        <p:origin x="120" y="16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Fabro" userId="S::jen.fabro@utoronto.ca::1f745c13-301a-4e03-8fa6-e9482bd21594" providerId="AD" clId="Web-{4A7763E0-B844-E390-CA4E-07BDF2863FA0}"/>
    <pc:docChg chg="modSld">
      <pc:chgData name="Jennifer Fabro" userId="S::jen.fabro@utoronto.ca::1f745c13-301a-4e03-8fa6-e9482bd21594" providerId="AD" clId="Web-{4A7763E0-B844-E390-CA4E-07BDF2863FA0}" dt="2026-09-25T19:42:47.996" v="0"/>
      <pc:docMkLst>
        <pc:docMk/>
      </pc:docMkLst>
      <pc:sldChg chg="addSp modSp">
        <pc:chgData name="Jennifer Fabro" userId="S::jen.fabro@utoronto.ca::1f745c13-301a-4e03-8fa6-e9482bd21594" providerId="AD" clId="Web-{4A7763E0-B844-E390-CA4E-07BDF2863FA0}" dt="2026-09-25T19:42:47.996" v="0"/>
        <pc:sldMkLst>
          <pc:docMk/>
          <pc:sldMk cId="4234984410" sldId="4708"/>
        </pc:sldMkLst>
        <pc:picChg chg="add mod">
          <ac:chgData name="Jennifer Fabro" userId="S::jen.fabro@utoronto.ca::1f745c13-301a-4e03-8fa6-e9482bd21594" providerId="AD" clId="Web-{4A7763E0-B844-E390-CA4E-07BDF2863FA0}" dt="2026-09-25T19:42:47.996" v="0"/>
          <ac:picMkLst>
            <pc:docMk/>
            <pc:sldMk cId="4234984410" sldId="4708"/>
            <ac:picMk id="29" creationId="{3BD345D9-AD53-5B63-596A-50C0BCE65473}"/>
          </ac:picMkLst>
        </pc:picChg>
      </pc:sldChg>
    </pc:docChg>
  </pc:docChgLst>
  <pc:docChgLst>
    <pc:chgData name="Jennifer Fabro" userId="1f745c13-301a-4e03-8fa6-e9482bd21594" providerId="ADAL" clId="{BEF6F71C-7B0A-47F6-A489-0C8CCBF54518}"/>
    <pc:docChg chg="addSld delSld modSld sldOrd delMainMaster">
      <pc:chgData name="Jennifer Fabro" userId="1f745c13-301a-4e03-8fa6-e9482bd21594" providerId="ADAL" clId="{BEF6F71C-7B0A-47F6-A489-0C8CCBF54518}" dt="2026-09-25T20:28:20.379" v="34" actId="47"/>
      <pc:docMkLst>
        <pc:docMk/>
      </pc:docMkLst>
      <pc:sldChg chg="add del ord modTransition">
        <pc:chgData name="Jennifer Fabro" userId="1f745c13-301a-4e03-8fa6-e9482bd21594" providerId="ADAL" clId="{BEF6F71C-7B0A-47F6-A489-0C8CCBF54518}" dt="2026-09-25T19:43:50.062" v="31"/>
        <pc:sldMkLst>
          <pc:docMk/>
          <pc:sldMk cId="0" sldId="256"/>
        </pc:sldMkLst>
      </pc:sldChg>
      <pc:sldChg chg="add">
        <pc:chgData name="Jennifer Fabro" userId="1f745c13-301a-4e03-8fa6-e9482bd21594" providerId="ADAL" clId="{BEF6F71C-7B0A-47F6-A489-0C8CCBF54518}" dt="2026-09-25T20:28:07.980" v="33"/>
        <pc:sldMkLst>
          <pc:docMk/>
          <pc:sldMk cId="2821626291" sldId="269"/>
        </pc:sldMkLst>
      </pc:sldChg>
      <pc:sldChg chg="add ord">
        <pc:chgData name="Jennifer Fabro" userId="1f745c13-301a-4e03-8fa6-e9482bd21594" providerId="ADAL" clId="{BEF6F71C-7B0A-47F6-A489-0C8CCBF54518}" dt="2026-09-25T19:27:28.889" v="9"/>
        <pc:sldMkLst>
          <pc:docMk/>
          <pc:sldMk cId="3661921481" sldId="272"/>
        </pc:sldMkLst>
      </pc:sldChg>
      <pc:sldChg chg="del">
        <pc:chgData name="Jennifer Fabro" userId="1f745c13-301a-4e03-8fa6-e9482bd21594" providerId="ADAL" clId="{BEF6F71C-7B0A-47F6-A489-0C8CCBF54518}" dt="2026-09-25T20:28:20.379" v="34" actId="47"/>
        <pc:sldMkLst>
          <pc:docMk/>
          <pc:sldMk cId="1604282551" sldId="4705"/>
        </pc:sldMkLst>
      </pc:sldChg>
      <pc:sldChg chg="add del">
        <pc:chgData name="Jennifer Fabro" userId="1f745c13-301a-4e03-8fa6-e9482bd21594" providerId="ADAL" clId="{BEF6F71C-7B0A-47F6-A489-0C8CCBF54518}" dt="2026-09-25T19:26:43.477" v="4" actId="47"/>
        <pc:sldMkLst>
          <pc:docMk/>
          <pc:sldMk cId="3727373837" sldId="4707"/>
        </pc:sldMkLst>
      </pc:sldChg>
      <pc:sldChg chg="add modTransition">
        <pc:chgData name="Jennifer Fabro" userId="1f745c13-301a-4e03-8fa6-e9482bd21594" providerId="ADAL" clId="{BEF6F71C-7B0A-47F6-A489-0C8CCBF54518}" dt="2026-09-25T19:26:37.142" v="2"/>
        <pc:sldMkLst>
          <pc:docMk/>
          <pc:sldMk cId="4234984410" sldId="4708"/>
        </pc:sldMkLst>
      </pc:sldChg>
      <pc:sldChg chg="new del">
        <pc:chgData name="Jennifer Fabro" userId="1f745c13-301a-4e03-8fa6-e9482bd21594" providerId="ADAL" clId="{BEF6F71C-7B0A-47F6-A489-0C8CCBF54518}" dt="2026-09-25T19:41:06.266" v="26" actId="47"/>
        <pc:sldMkLst>
          <pc:docMk/>
          <pc:sldMk cId="49223068" sldId="4709"/>
        </pc:sldMkLst>
      </pc:sldChg>
      <pc:sldChg chg="new del">
        <pc:chgData name="Jennifer Fabro" userId="1f745c13-301a-4e03-8fa6-e9482bd21594" providerId="ADAL" clId="{BEF6F71C-7B0A-47F6-A489-0C8CCBF54518}" dt="2026-09-25T19:34:50.680" v="18" actId="47"/>
        <pc:sldMkLst>
          <pc:docMk/>
          <pc:sldMk cId="1925173111" sldId="4709"/>
        </pc:sldMkLst>
      </pc:sldChg>
      <pc:sldChg chg="new del">
        <pc:chgData name="Jennifer Fabro" userId="1f745c13-301a-4e03-8fa6-e9482bd21594" providerId="ADAL" clId="{BEF6F71C-7B0A-47F6-A489-0C8CCBF54518}" dt="2026-09-25T19:43:53.645" v="32" actId="47"/>
        <pc:sldMkLst>
          <pc:docMk/>
          <pc:sldMk cId="2448148597" sldId="4709"/>
        </pc:sldMkLst>
      </pc:sldChg>
      <pc:sldChg chg="add del">
        <pc:chgData name="Jennifer Fabro" userId="1f745c13-301a-4e03-8fa6-e9482bd21594" providerId="ADAL" clId="{BEF6F71C-7B0A-47F6-A489-0C8CCBF54518}" dt="2026-09-25T19:27:19.315" v="7" actId="47"/>
        <pc:sldMkLst>
          <pc:docMk/>
          <pc:sldMk cId="2936726259" sldId="4709"/>
        </pc:sldMkLst>
      </pc:sldChg>
      <pc:sldChg chg="add del modTransition">
        <pc:chgData name="Jennifer Fabro" userId="1f745c13-301a-4e03-8fa6-e9482bd21594" providerId="ADAL" clId="{BEF6F71C-7B0A-47F6-A489-0C8CCBF54518}" dt="2026-09-25T19:41:03.256" v="25" actId="47"/>
        <pc:sldMkLst>
          <pc:docMk/>
          <pc:sldMk cId="0" sldId="4710"/>
        </pc:sldMkLst>
      </pc:sldChg>
      <pc:sldChg chg="new del">
        <pc:chgData name="Jennifer Fabro" userId="1f745c13-301a-4e03-8fa6-e9482bd21594" providerId="ADAL" clId="{BEF6F71C-7B0A-47F6-A489-0C8CCBF54518}" dt="2026-09-25T19:41:02.330" v="24" actId="47"/>
        <pc:sldMkLst>
          <pc:docMk/>
          <pc:sldMk cId="4045765960" sldId="4711"/>
        </pc:sldMkLst>
      </pc:sldChg>
      <pc:sldMasterChg chg="del delSldLayout">
        <pc:chgData name="Jennifer Fabro" userId="1f745c13-301a-4e03-8fa6-e9482bd21594" providerId="ADAL" clId="{BEF6F71C-7B0A-47F6-A489-0C8CCBF54518}" dt="2026-09-25T19:26:40.991" v="3" actId="47"/>
        <pc:sldMasterMkLst>
          <pc:docMk/>
          <pc:sldMasterMk cId="1336518515" sldId="2147483660"/>
        </pc:sldMasterMkLst>
        <pc:sldLayoutChg chg="del">
          <pc:chgData name="Jennifer Fabro" userId="1f745c13-301a-4e03-8fa6-e9482bd21594" providerId="ADAL" clId="{BEF6F71C-7B0A-47F6-A489-0C8CCBF54518}" dt="2026-09-25T19:26:40.991" v="3" actId="47"/>
          <pc:sldLayoutMkLst>
            <pc:docMk/>
            <pc:sldMasterMk cId="1336518515" sldId="2147483660"/>
            <pc:sldLayoutMk cId="2256376047" sldId="2147483661"/>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4240231882" sldId="2147483662"/>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4113935554" sldId="2147483663"/>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425257933" sldId="2147483664"/>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1174146712" sldId="2147483665"/>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674372166" sldId="2147483666"/>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3846089951" sldId="2147483667"/>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2798306951" sldId="2147483668"/>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2205065733" sldId="2147483669"/>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1663033781" sldId="2147483670"/>
          </pc:sldLayoutMkLst>
        </pc:sldLayoutChg>
        <pc:sldLayoutChg chg="del">
          <pc:chgData name="Jennifer Fabro" userId="1f745c13-301a-4e03-8fa6-e9482bd21594" providerId="ADAL" clId="{BEF6F71C-7B0A-47F6-A489-0C8CCBF54518}" dt="2026-09-25T19:26:40.991" v="3" actId="47"/>
          <pc:sldLayoutMkLst>
            <pc:docMk/>
            <pc:sldMasterMk cId="1336518515" sldId="2147483660"/>
            <pc:sldLayoutMk cId="711585975" sldId="2147483671"/>
          </pc:sldLayoutMkLst>
        </pc:sldLayoutChg>
      </pc:sldMasterChg>
      <pc:sldMasterChg chg="del delSldLayout">
        <pc:chgData name="Jennifer Fabro" userId="1f745c13-301a-4e03-8fa6-e9482bd21594" providerId="ADAL" clId="{BEF6F71C-7B0A-47F6-A489-0C8CCBF54518}" dt="2026-09-25T19:41:03.256" v="25" actId="47"/>
        <pc:sldMasterMkLst>
          <pc:docMk/>
          <pc:sldMasterMk cId="2234148514" sldId="2147483660"/>
        </pc:sldMasterMkLst>
        <pc:sldLayoutChg chg="del">
          <pc:chgData name="Jennifer Fabro" userId="1f745c13-301a-4e03-8fa6-e9482bd21594" providerId="ADAL" clId="{BEF6F71C-7B0A-47F6-A489-0C8CCBF54518}" dt="2026-09-25T19:41:03.256" v="25" actId="47"/>
          <pc:sldLayoutMkLst>
            <pc:docMk/>
            <pc:sldMasterMk cId="2234148514" sldId="2147483660"/>
            <pc:sldLayoutMk cId="2427781386" sldId="2147483661"/>
          </pc:sldLayoutMkLst>
        </pc:sldLayoutChg>
        <pc:sldLayoutChg chg="del">
          <pc:chgData name="Jennifer Fabro" userId="1f745c13-301a-4e03-8fa6-e9482bd21594" providerId="ADAL" clId="{BEF6F71C-7B0A-47F6-A489-0C8CCBF54518}" dt="2026-09-25T19:41:03.256" v="25" actId="47"/>
          <pc:sldLayoutMkLst>
            <pc:docMk/>
            <pc:sldMasterMk cId="2234148514" sldId="2147483660"/>
            <pc:sldLayoutMk cId="259124880" sldId="2147483662"/>
          </pc:sldLayoutMkLst>
        </pc:sldLayoutChg>
        <pc:sldLayoutChg chg="del">
          <pc:chgData name="Jennifer Fabro" userId="1f745c13-301a-4e03-8fa6-e9482bd21594" providerId="ADAL" clId="{BEF6F71C-7B0A-47F6-A489-0C8CCBF54518}" dt="2026-09-25T19:41:03.256" v="25" actId="47"/>
          <pc:sldLayoutMkLst>
            <pc:docMk/>
            <pc:sldMasterMk cId="2234148514" sldId="2147483660"/>
            <pc:sldLayoutMk cId="2550985198" sldId="2147483663"/>
          </pc:sldLayoutMkLst>
        </pc:sldLayoutChg>
        <pc:sldLayoutChg chg="del">
          <pc:chgData name="Jennifer Fabro" userId="1f745c13-301a-4e03-8fa6-e9482bd21594" providerId="ADAL" clId="{BEF6F71C-7B0A-47F6-A489-0C8CCBF54518}" dt="2026-09-25T19:41:03.256" v="25" actId="47"/>
          <pc:sldLayoutMkLst>
            <pc:docMk/>
            <pc:sldMasterMk cId="2234148514" sldId="2147483660"/>
            <pc:sldLayoutMk cId="2619442717" sldId="2147483664"/>
          </pc:sldLayoutMkLst>
        </pc:sldLayoutChg>
        <pc:sldLayoutChg chg="del">
          <pc:chgData name="Jennifer Fabro" userId="1f745c13-301a-4e03-8fa6-e9482bd21594" providerId="ADAL" clId="{BEF6F71C-7B0A-47F6-A489-0C8CCBF54518}" dt="2026-09-25T19:41:03.256" v="25" actId="47"/>
          <pc:sldLayoutMkLst>
            <pc:docMk/>
            <pc:sldMasterMk cId="2234148514" sldId="2147483660"/>
            <pc:sldLayoutMk cId="1587346373" sldId="214748366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2B8681-DD13-4A42-BBDD-DAC7DA43E430}" type="datetimeFigureOut">
              <a:rPr lang="en-CA" smtClean="0"/>
              <a:t>2026-10-01</a:t>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875EBB-55DF-4FF4-A9D6-4C9888A1D7F2}" type="slidenum">
              <a:rPr lang="en-CA" smtClean="0"/>
              <a:t>‹#›</a:t>
            </a:fld>
            <a:endParaRPr lang="en-CA"/>
          </a:p>
        </p:txBody>
      </p:sp>
    </p:spTree>
    <p:extLst>
      <p:ext uri="{BB962C8B-B14F-4D97-AF65-F5344CB8AC3E}">
        <p14:creationId xmlns:p14="http://schemas.microsoft.com/office/powerpoint/2010/main" val="15046028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474FC-94D7-4F1C-B984-7E942EBFF962}" type="datetimeFigureOut">
              <a:rPr lang="en-CA" smtClean="0"/>
              <a:t>2026-10-01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10D93D-ECA4-47A1-A3E4-48D7C53B2E72}" type="slidenum">
              <a:rPr lang="en-CA" smtClean="0"/>
              <a:t>‹#›</a:t>
            </a:fld>
            <a:endParaRPr lang="en-CA"/>
          </a:p>
        </p:txBody>
      </p:sp>
    </p:spTree>
    <p:extLst>
      <p:ext uri="{BB962C8B-B14F-4D97-AF65-F5344CB8AC3E}">
        <p14:creationId xmlns:p14="http://schemas.microsoft.com/office/powerpoint/2010/main" val="2013095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 the bolding. John A. Macdonald, one of the most powerful people in Canada at the time, did not believe Indigenous people were people. He refers to them by “it” and “savages.” He very clearly indicates that the purpose of residential schools was to kill the Indigenous ways of living and knowing. </a:t>
            </a:r>
          </a:p>
          <a:p>
            <a:endParaRPr lang="en-CA"/>
          </a:p>
          <a:p>
            <a:r>
              <a:rPr lang="en-CA"/>
              <a:t>It is not surprising that to this day Indigenous People have a complicated relationship with educational institutions, especially those, like UofT, that present in a very colonial way.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34FAF1-AAD5-4604-9A19-09FE55559F8A}"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6148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853E2-86C8-8F83-9E35-FB45321B9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C8643-52F3-6E8C-659D-8CAC22B28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F0032-DD07-B2E0-3D4D-04125A79E55D}"/>
              </a:ext>
            </a:extLst>
          </p:cNvPr>
          <p:cNvSpPr>
            <a:spLocks noGrp="1"/>
          </p:cNvSpPr>
          <p:nvPr>
            <p:ph type="body" idx="1"/>
          </p:nvPr>
        </p:nvSpPr>
        <p:spPr/>
        <p:txBody>
          <a:bodyPr/>
          <a:lstStyle/>
          <a:p>
            <a:r>
              <a:rPr lang="en-CA" sz="1200" b="0">
                <a:solidFill>
                  <a:schemeClr val="tx1">
                    <a:lumMod val="65000"/>
                    <a:lumOff val="35000"/>
                  </a:schemeClr>
                </a:solidFill>
                <a:latin typeface="Helvetica 35 Thin"/>
              </a:rPr>
              <a:t> posted</a:t>
            </a:r>
          </a:p>
        </p:txBody>
      </p:sp>
      <p:sp>
        <p:nvSpPr>
          <p:cNvPr id="4" name="Slide Number Placeholder 3">
            <a:extLst>
              <a:ext uri="{FF2B5EF4-FFF2-40B4-BE49-F238E27FC236}">
                <a16:creationId xmlns:a16="http://schemas.microsoft.com/office/drawing/2014/main" id="{D5E401B9-9E17-C190-A80D-C775D6F47C88}"/>
              </a:ext>
            </a:extLst>
          </p:cNvPr>
          <p:cNvSpPr>
            <a:spLocks noGrp="1"/>
          </p:cNvSpPr>
          <p:nvPr>
            <p:ph type="sldNum" sz="quarter" idx="10"/>
          </p:nvPr>
        </p:nvSpPr>
        <p:spPr/>
        <p:txBody>
          <a:bodyPr/>
          <a:lstStyle/>
          <a:p>
            <a:fld id="{27A62D17-35A6-4F20-88C4-32BB5E420CE3}" type="slidenum">
              <a:rPr lang="en-CA" smtClean="0"/>
              <a:t>3</a:t>
            </a:fld>
            <a:endParaRPr lang="en-CA"/>
          </a:p>
        </p:txBody>
      </p:sp>
    </p:spTree>
    <p:extLst>
      <p:ext uri="{BB962C8B-B14F-4D97-AF65-F5344CB8AC3E}">
        <p14:creationId xmlns:p14="http://schemas.microsoft.com/office/powerpoint/2010/main" val="3002738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CBEC-41E8-72C1-1CAE-6E5BA01BF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E68D1-C16B-3A06-7E16-88E5A43D9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3AD2A-1C3D-9192-2BE8-F14FE16058A9}"/>
              </a:ext>
            </a:extLst>
          </p:cNvPr>
          <p:cNvSpPr>
            <a:spLocks noGrp="1"/>
          </p:cNvSpPr>
          <p:nvPr>
            <p:ph type="body" idx="1"/>
          </p:nvPr>
        </p:nvSpPr>
        <p:spPr/>
        <p:txBody>
          <a:bodyPr/>
          <a:lstStyle/>
          <a:p>
            <a:r>
              <a:rPr lang="en-CA" sz="1200" b="0">
                <a:solidFill>
                  <a:schemeClr val="tx1">
                    <a:lumMod val="65000"/>
                    <a:lumOff val="35000"/>
                  </a:schemeClr>
                </a:solidFill>
                <a:latin typeface="Helvetica 35 Thin"/>
              </a:rPr>
              <a:t> posted</a:t>
            </a:r>
            <a:endParaRPr lang="en-CA" sz="1200" b="0" baseline="0">
              <a:solidFill>
                <a:schemeClr val="tx1">
                  <a:lumMod val="65000"/>
                  <a:lumOff val="35000"/>
                </a:schemeClr>
              </a:solidFill>
              <a:latin typeface="Helvetica 35 Thin"/>
            </a:endParaRPr>
          </a:p>
        </p:txBody>
      </p:sp>
      <p:sp>
        <p:nvSpPr>
          <p:cNvPr id="4" name="Slide Number Placeholder 3">
            <a:extLst>
              <a:ext uri="{FF2B5EF4-FFF2-40B4-BE49-F238E27FC236}">
                <a16:creationId xmlns:a16="http://schemas.microsoft.com/office/drawing/2014/main" id="{950DDE94-EE95-10ED-9096-3920DCB4EA3C}"/>
              </a:ext>
            </a:extLst>
          </p:cNvPr>
          <p:cNvSpPr>
            <a:spLocks noGrp="1"/>
          </p:cNvSpPr>
          <p:nvPr>
            <p:ph type="sldNum" sz="quarter" idx="10"/>
          </p:nvPr>
        </p:nvSpPr>
        <p:spPr/>
        <p:txBody>
          <a:bodyPr/>
          <a:lstStyle/>
          <a:p>
            <a:fld id="{27A62D17-35A6-4F20-88C4-32BB5E420CE3}" type="slidenum">
              <a:rPr lang="en-CA" smtClean="0"/>
              <a:t>4</a:t>
            </a:fld>
            <a:endParaRPr lang="en-CA"/>
          </a:p>
        </p:txBody>
      </p:sp>
    </p:spTree>
    <p:extLst>
      <p:ext uri="{BB962C8B-B14F-4D97-AF65-F5344CB8AC3E}">
        <p14:creationId xmlns:p14="http://schemas.microsoft.com/office/powerpoint/2010/main" val="3828465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4720A-76D5-A932-037F-09A3A9923C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A8168-1335-63D9-80CD-411FA00A7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65E56C-2FB1-9DCE-DB88-9D51BD91A76D}"/>
              </a:ext>
            </a:extLst>
          </p:cNvPr>
          <p:cNvSpPr>
            <a:spLocks noGrp="1"/>
          </p:cNvSpPr>
          <p:nvPr>
            <p:ph type="body" idx="1"/>
          </p:nvPr>
        </p:nvSpPr>
        <p:spPr/>
        <p:txBody>
          <a:bodyPr/>
          <a:lstStyle/>
          <a:p>
            <a:r>
              <a:rPr lang="en-CA" sz="1200" b="0">
                <a:solidFill>
                  <a:schemeClr val="tx1">
                    <a:lumMod val="65000"/>
                    <a:lumOff val="35000"/>
                  </a:schemeClr>
                </a:solidFill>
                <a:latin typeface="Helvetica 35 Thin"/>
              </a:rPr>
              <a:t> </a:t>
            </a:r>
            <a:endParaRPr lang="en-CA" sz="1200" b="0" baseline="0">
              <a:solidFill>
                <a:schemeClr val="tx1">
                  <a:lumMod val="65000"/>
                  <a:lumOff val="35000"/>
                </a:schemeClr>
              </a:solidFill>
              <a:latin typeface="Helvetica 35 Thin"/>
            </a:endParaRPr>
          </a:p>
        </p:txBody>
      </p:sp>
      <p:sp>
        <p:nvSpPr>
          <p:cNvPr id="4" name="Slide Number Placeholder 3">
            <a:extLst>
              <a:ext uri="{FF2B5EF4-FFF2-40B4-BE49-F238E27FC236}">
                <a16:creationId xmlns:a16="http://schemas.microsoft.com/office/drawing/2014/main" id="{E85AE0FF-E178-CE8E-70B0-7B846FF26413}"/>
              </a:ext>
            </a:extLst>
          </p:cNvPr>
          <p:cNvSpPr>
            <a:spLocks noGrp="1"/>
          </p:cNvSpPr>
          <p:nvPr>
            <p:ph type="sldNum" sz="quarter" idx="10"/>
          </p:nvPr>
        </p:nvSpPr>
        <p:spPr/>
        <p:txBody>
          <a:bodyPr/>
          <a:lstStyle/>
          <a:p>
            <a:fld id="{27A62D17-35A6-4F20-88C4-32BB5E420CE3}" type="slidenum">
              <a:rPr lang="en-CA" smtClean="0"/>
              <a:t>5</a:t>
            </a:fld>
            <a:endParaRPr lang="en-CA"/>
          </a:p>
        </p:txBody>
      </p:sp>
    </p:spTree>
    <p:extLst>
      <p:ext uri="{BB962C8B-B14F-4D97-AF65-F5344CB8AC3E}">
        <p14:creationId xmlns:p14="http://schemas.microsoft.com/office/powerpoint/2010/main" val="2788752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FF59C-0E44-511E-302F-0565A2708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5C199-827A-9426-F888-8D1B07664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B7227-011E-9652-9308-E2368F9B123D}"/>
              </a:ext>
            </a:extLst>
          </p:cNvPr>
          <p:cNvSpPr>
            <a:spLocks noGrp="1"/>
          </p:cNvSpPr>
          <p:nvPr>
            <p:ph type="body" idx="1"/>
          </p:nvPr>
        </p:nvSpPr>
        <p:spPr/>
        <p:txBody>
          <a:bodyPr/>
          <a:lstStyle/>
          <a:p>
            <a:r>
              <a:rPr lang="en-US" sz="1200" b="0" i="1" kern="1200">
                <a:solidFill>
                  <a:schemeClr val="tx1"/>
                </a:solidFill>
                <a:effectLst/>
                <a:latin typeface="Arial" panose="020B0604020202020204" pitchFamily="34" charset="0"/>
                <a:ea typeface="+mn-ea"/>
                <a:cs typeface="+mn-cs"/>
              </a:rPr>
              <a:t> </a:t>
            </a:r>
            <a:endParaRPr lang="en-CA"/>
          </a:p>
        </p:txBody>
      </p:sp>
      <p:sp>
        <p:nvSpPr>
          <p:cNvPr id="4" name="Slide Number Placeholder 3">
            <a:extLst>
              <a:ext uri="{FF2B5EF4-FFF2-40B4-BE49-F238E27FC236}">
                <a16:creationId xmlns:a16="http://schemas.microsoft.com/office/drawing/2014/main" id="{55AAA94E-ED55-B88A-5F63-4B9FAB0F3EC3}"/>
              </a:ext>
            </a:extLst>
          </p:cNvPr>
          <p:cNvSpPr>
            <a:spLocks noGrp="1"/>
          </p:cNvSpPr>
          <p:nvPr>
            <p:ph type="sldNum" sz="quarter" idx="5"/>
          </p:nvPr>
        </p:nvSpPr>
        <p:spPr/>
        <p:txBody>
          <a:bodyPr/>
          <a:lstStyle/>
          <a:p>
            <a:fld id="{BF3C90F2-F4C7-B34A-BBF6-3F0668234CD8}" type="slidenum">
              <a:rPr lang="en-US" smtClean="0"/>
              <a:pPr/>
              <a:t>6</a:t>
            </a:fld>
            <a:endParaRPr lang="en-US"/>
          </a:p>
        </p:txBody>
      </p:sp>
    </p:spTree>
    <p:extLst>
      <p:ext uri="{BB962C8B-B14F-4D97-AF65-F5344CB8AC3E}">
        <p14:creationId xmlns:p14="http://schemas.microsoft.com/office/powerpoint/2010/main" val="2398265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C6D7-49D5-75CE-3E79-748AD99E4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03436-14B6-3F9B-A572-FA3872F36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6E9F0-C912-C5D7-FBE0-FB34B7091336}"/>
              </a:ext>
            </a:extLst>
          </p:cNvPr>
          <p:cNvSpPr>
            <a:spLocks noGrp="1"/>
          </p:cNvSpPr>
          <p:nvPr>
            <p:ph type="body" idx="1"/>
          </p:nvPr>
        </p:nvSpPr>
        <p:spPr/>
        <p:txBody>
          <a:bodyPr/>
          <a:lstStyle/>
          <a:p>
            <a:r>
              <a:rPr lang="en-CA" sz="1200" b="0">
                <a:solidFill>
                  <a:schemeClr val="tx1">
                    <a:lumMod val="65000"/>
                    <a:lumOff val="35000"/>
                  </a:schemeClr>
                </a:solidFill>
                <a:latin typeface="Helvetica 35 Thin"/>
              </a:rPr>
              <a:t>This slide to run each week in both decks up to including week of Oct. 19.</a:t>
            </a:r>
            <a:endParaRPr lang="en-CA" sz="1200" b="0" baseline="0">
              <a:solidFill>
                <a:schemeClr val="tx1">
                  <a:lumMod val="65000"/>
                  <a:lumOff val="35000"/>
                </a:schemeClr>
              </a:solidFill>
              <a:latin typeface="Helvetica 35 Thin"/>
            </a:endParaRPr>
          </a:p>
        </p:txBody>
      </p:sp>
      <p:sp>
        <p:nvSpPr>
          <p:cNvPr id="4" name="Slide Number Placeholder 3">
            <a:extLst>
              <a:ext uri="{FF2B5EF4-FFF2-40B4-BE49-F238E27FC236}">
                <a16:creationId xmlns:a16="http://schemas.microsoft.com/office/drawing/2014/main" id="{1D4BE19C-0A4C-28A8-6B0C-23A6CB4A2CFC}"/>
              </a:ext>
            </a:extLst>
          </p:cNvPr>
          <p:cNvSpPr>
            <a:spLocks noGrp="1"/>
          </p:cNvSpPr>
          <p:nvPr>
            <p:ph type="sldNum" sz="quarter" idx="10"/>
          </p:nvPr>
        </p:nvSpPr>
        <p:spPr/>
        <p:txBody>
          <a:bodyPr/>
          <a:lstStyle/>
          <a:p>
            <a:fld id="{27A62D17-35A6-4F20-88C4-32BB5E420CE3}" type="slidenum">
              <a:rPr lang="en-CA" smtClean="0"/>
              <a:t>7</a:t>
            </a:fld>
            <a:endParaRPr lang="en-CA"/>
          </a:p>
        </p:txBody>
      </p:sp>
    </p:spTree>
    <p:extLst>
      <p:ext uri="{BB962C8B-B14F-4D97-AF65-F5344CB8AC3E}">
        <p14:creationId xmlns:p14="http://schemas.microsoft.com/office/powerpoint/2010/main" val="746675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i="0" baseline="0"/>
              <a:t> </a:t>
            </a:r>
            <a:endParaRPr lang="en-CA" sz="1200" b="0">
              <a:solidFill>
                <a:schemeClr val="tx1">
                  <a:lumMod val="65000"/>
                  <a:lumOff val="35000"/>
                </a:schemeClr>
              </a:solidFill>
              <a:latin typeface="Helvetica 35 Thi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b="0">
              <a:solidFill>
                <a:schemeClr val="tx1">
                  <a:lumMod val="65000"/>
                  <a:lumOff val="35000"/>
                </a:schemeClr>
              </a:solidFill>
              <a:latin typeface="Helvetica 35 Thin"/>
            </a:endParaRPr>
          </a:p>
        </p:txBody>
      </p:sp>
      <p:sp>
        <p:nvSpPr>
          <p:cNvPr id="4" name="Slide Number Placeholder 3"/>
          <p:cNvSpPr>
            <a:spLocks noGrp="1"/>
          </p:cNvSpPr>
          <p:nvPr>
            <p:ph type="sldNum" sz="quarter" idx="10"/>
          </p:nvPr>
        </p:nvSpPr>
        <p:spPr/>
        <p:txBody>
          <a:bodyPr/>
          <a:lstStyle/>
          <a:p>
            <a:fld id="{27A62D17-35A6-4F20-88C4-32BB5E420CE3}" type="slidenum">
              <a:rPr lang="en-CA" smtClean="0"/>
              <a:t>8</a:t>
            </a:fld>
            <a:endParaRPr lang="en-CA"/>
          </a:p>
        </p:txBody>
      </p:sp>
    </p:spTree>
    <p:extLst>
      <p:ext uri="{BB962C8B-B14F-4D97-AF65-F5344CB8AC3E}">
        <p14:creationId xmlns:p14="http://schemas.microsoft.com/office/powerpoint/2010/main" val="107703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9A526-6D99-0EF7-EB9A-23AEFDE52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64520-1D44-3D07-1B67-FABA332D9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183F6-1A16-6D1D-F1E4-6BC3CA70AA30}"/>
              </a:ext>
            </a:extLst>
          </p:cNvPr>
          <p:cNvSpPr>
            <a:spLocks noGrp="1"/>
          </p:cNvSpPr>
          <p:nvPr>
            <p:ph type="body" idx="1"/>
          </p:nvPr>
        </p:nvSpPr>
        <p:spPr/>
        <p:txBody>
          <a:bodyPr/>
          <a:lstStyle/>
          <a:p>
            <a:r>
              <a:rPr lang="en-CA" sz="1200" b="0">
                <a:solidFill>
                  <a:schemeClr val="tx1">
                    <a:lumMod val="65000"/>
                    <a:lumOff val="35000"/>
                  </a:schemeClr>
                </a:solidFill>
                <a:latin typeface="Helvetica 35 Thin"/>
              </a:rPr>
              <a:t> posted</a:t>
            </a:r>
          </a:p>
        </p:txBody>
      </p:sp>
      <p:sp>
        <p:nvSpPr>
          <p:cNvPr id="4" name="Slide Number Placeholder 3">
            <a:extLst>
              <a:ext uri="{FF2B5EF4-FFF2-40B4-BE49-F238E27FC236}">
                <a16:creationId xmlns:a16="http://schemas.microsoft.com/office/drawing/2014/main" id="{D9068263-D83F-C017-32F0-19C98387D169}"/>
              </a:ext>
            </a:extLst>
          </p:cNvPr>
          <p:cNvSpPr>
            <a:spLocks noGrp="1"/>
          </p:cNvSpPr>
          <p:nvPr>
            <p:ph type="sldNum" sz="quarter" idx="10"/>
          </p:nvPr>
        </p:nvSpPr>
        <p:spPr/>
        <p:txBody>
          <a:bodyPr/>
          <a:lstStyle/>
          <a:p>
            <a:fld id="{27A62D17-35A6-4F20-88C4-32BB5E420CE3}" type="slidenum">
              <a:rPr lang="en-CA" smtClean="0"/>
              <a:t>9</a:t>
            </a:fld>
            <a:endParaRPr lang="en-CA"/>
          </a:p>
        </p:txBody>
      </p:sp>
    </p:spTree>
    <p:extLst>
      <p:ext uri="{BB962C8B-B14F-4D97-AF65-F5344CB8AC3E}">
        <p14:creationId xmlns:p14="http://schemas.microsoft.com/office/powerpoint/2010/main" val="1152594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1774" rtl="0" eaLnBrk="1" fontAlgn="auto" latinLnBrk="0" hangingPunct="1">
              <a:lnSpc>
                <a:spcPct val="100000"/>
              </a:lnSpc>
              <a:spcBef>
                <a:spcPts val="0"/>
              </a:spcBef>
              <a:spcAft>
                <a:spcPts val="0"/>
              </a:spcAft>
              <a:buClrTx/>
              <a:buSzTx/>
              <a:buFontTx/>
              <a:buNone/>
              <a:tabLst/>
              <a:defRPr/>
            </a:pPr>
            <a:r>
              <a:rPr lang="en-CA" i="0"/>
              <a:t> </a:t>
            </a:r>
            <a:endParaRPr lang="en-CA" sz="1100">
              <a:solidFill>
                <a:srgbClr val="242424"/>
              </a:solidFill>
              <a:effectLst/>
              <a:latin typeface="Calibri" panose="020F0502020204030204" pitchFamily="34" charset="0"/>
              <a:ea typeface="Aptos"/>
              <a:cs typeface="Times New Roman" panose="02020603050405020304" pitchFamily="18" charset="0"/>
            </a:endParaRPr>
          </a:p>
          <a:p>
            <a:pPr defTabSz="931774">
              <a:defRPr/>
            </a:pPr>
            <a:endParaRPr lang="en-CA" i="0"/>
          </a:p>
          <a:p>
            <a:endParaRPr lang="en-CA"/>
          </a:p>
        </p:txBody>
      </p:sp>
      <p:sp>
        <p:nvSpPr>
          <p:cNvPr id="4" name="Slide Number Placeholder 3"/>
          <p:cNvSpPr>
            <a:spLocks noGrp="1"/>
          </p:cNvSpPr>
          <p:nvPr>
            <p:ph type="sldNum" sz="quarter" idx="5"/>
          </p:nvPr>
        </p:nvSpPr>
        <p:spPr/>
        <p:txBody>
          <a:bodyPr/>
          <a:lstStyle/>
          <a:p>
            <a:fld id="{BF3C90F2-F4C7-B34A-BBF6-3F0668234CD8}" type="slidenum">
              <a:rPr lang="en-US" smtClean="0"/>
              <a:pPr/>
              <a:t>10</a:t>
            </a:fld>
            <a:endParaRPr lang="en-US"/>
          </a:p>
        </p:txBody>
      </p:sp>
    </p:spTree>
    <p:extLst>
      <p:ext uri="{BB962C8B-B14F-4D97-AF65-F5344CB8AC3E}">
        <p14:creationId xmlns:p14="http://schemas.microsoft.com/office/powerpoint/2010/main" val="343244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 </a:t>
            </a:r>
            <a:endParaRPr lang="en-CA" baseline="0"/>
          </a:p>
        </p:txBody>
      </p:sp>
      <p:sp>
        <p:nvSpPr>
          <p:cNvPr id="4" name="Slide Number Placeholder 3"/>
          <p:cNvSpPr>
            <a:spLocks noGrp="1"/>
          </p:cNvSpPr>
          <p:nvPr>
            <p:ph type="sldNum" sz="quarter" idx="10"/>
          </p:nvPr>
        </p:nvSpPr>
        <p:spPr/>
        <p:txBody>
          <a:bodyPr/>
          <a:lstStyle/>
          <a:p>
            <a:fld id="{2310D93D-ECA4-47A1-A3E4-48D7C53B2E72}" type="slidenum">
              <a:rPr lang="en-CA" smtClean="0"/>
              <a:t>11</a:t>
            </a:fld>
            <a:endParaRPr lang="en-CA"/>
          </a:p>
        </p:txBody>
      </p:sp>
    </p:spTree>
    <p:extLst>
      <p:ext uri="{BB962C8B-B14F-4D97-AF65-F5344CB8AC3E}">
        <p14:creationId xmlns:p14="http://schemas.microsoft.com/office/powerpoint/2010/main" val="2822545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CEC898-51EB-4DF5-8BF3-C5E5654F4A20}"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1881731354"/>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CEC898-51EB-4DF5-8BF3-C5E5654F4A20}"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666208646"/>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CEC898-51EB-4DF5-8BF3-C5E5654F4A20}"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1250947468"/>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CEC898-51EB-4DF5-8BF3-C5E5654F4A20}"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706913191"/>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CEC898-51EB-4DF5-8BF3-C5E5654F4A20}"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1820487066"/>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CEC898-51EB-4DF5-8BF3-C5E5654F4A20}"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3694700215"/>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CEC898-51EB-4DF5-8BF3-C5E5654F4A20}"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3111983517"/>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7CEC898-51EB-4DF5-8BF3-C5E5654F4A20}"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4134253720"/>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7CEC898-51EB-4DF5-8BF3-C5E5654F4A20}"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196628124"/>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CEC898-51EB-4DF5-8BF3-C5E5654F4A20}"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3502011794"/>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CEC898-51EB-4DF5-8BF3-C5E5654F4A20}"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A439A-C26C-463C-BDD6-449EAB328CB6}" type="slidenum">
              <a:rPr lang="en-US" smtClean="0"/>
              <a:t>‹#›</a:t>
            </a:fld>
            <a:endParaRPr lang="en-US"/>
          </a:p>
        </p:txBody>
      </p:sp>
    </p:spTree>
    <p:extLst>
      <p:ext uri="{BB962C8B-B14F-4D97-AF65-F5344CB8AC3E}">
        <p14:creationId xmlns:p14="http://schemas.microsoft.com/office/powerpoint/2010/main" val="1823238327"/>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EC898-51EB-4DF5-8BF3-C5E5654F4A20}" type="datetimeFigureOut">
              <a:rPr lang="en-US" smtClean="0"/>
              <a:t>10/1/2026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7A439A-C26C-463C-BDD6-449EAB328CB6}" type="slidenum">
              <a:rPr lang="en-US" smtClean="0"/>
              <a:t>‹#›</a:t>
            </a:fld>
            <a:endParaRPr lang="en-US"/>
          </a:p>
        </p:txBody>
      </p:sp>
    </p:spTree>
    <p:extLst>
      <p:ext uri="{BB962C8B-B14F-4D97-AF65-F5344CB8AC3E}">
        <p14:creationId xmlns:p14="http://schemas.microsoft.com/office/powerpoint/2010/main" val="3730132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can01.safelinks.protection.outlook.com/?url=https%3A%2F%2Forangeshirtday.org%2F&amp;data=05%7C02%7Cjason.bazylak%40utoronto.ca%7C89d019ded8ee4fc127f908dcd0eb0882%7C78aac2262f034b4d9037b46d56c55210%7C0%7C0%7C638614955087875631%7CUnknown%7CTWFpbGZsb3d8eyJWIjoiMC4wLjAwMDAiLCJQIjoiV2luMzIiLCJBTiI6Ik1haWwiLCJXVCI6Mn0%3D%7C0%7C%7C%7C&amp;sdata=UMDxYnk24s4vccp8iYnamOKJG3OuLk9jMs5LMzk5Byk%3D&amp;reserved=0" TargetMode="External"/><Relationship Id="rId3" Type="http://schemas.openxmlformats.org/officeDocument/2006/relationships/image" Target="../media/image2.png"/><Relationship Id="rId7" Type="http://schemas.openxmlformats.org/officeDocument/2006/relationships/hyperlink" Target="https://www.engineering.utoronto.ca/about/equity-diversity-and-inclusion/indigenous-cultural-competency-toolkit/" TargetMode="External"/><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7.png"/><Relationship Id="rId4" Type="http://schemas.openxmlformats.org/officeDocument/2006/relationships/image" Target="../media/image3.jpe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s://thecanadianencyclopedia.ca/en/collection/educational-resources-indigenous-peoples-in-canada" TargetMode="Externa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10;&#10;Description automatically generated">
            <a:extLst>
              <a:ext uri="{FF2B5EF4-FFF2-40B4-BE49-F238E27FC236}">
                <a16:creationId xmlns:a16="http://schemas.microsoft.com/office/drawing/2014/main" id="{2F7B641E-B977-402F-944E-54A693BDE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8" name="Picture 7" descr="A picture containing window, drawing&#10;&#10;Description automatically generated">
            <a:extLst>
              <a:ext uri="{FF2B5EF4-FFF2-40B4-BE49-F238E27FC236}">
                <a16:creationId xmlns:a16="http://schemas.microsoft.com/office/drawing/2014/main" id="{F7F89D39-679C-4D71-8AD7-05CB423F1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266" y="1361504"/>
            <a:ext cx="2643641" cy="4235975"/>
          </a:xfrm>
          <a:prstGeom prst="rect">
            <a:avLst/>
          </a:prstGeom>
        </p:spPr>
      </p:pic>
      <p:sp>
        <p:nvSpPr>
          <p:cNvPr id="4" name="Rectangle: Rounded Corners 3">
            <a:extLst>
              <a:ext uri="{FF2B5EF4-FFF2-40B4-BE49-F238E27FC236}">
                <a16:creationId xmlns:a16="http://schemas.microsoft.com/office/drawing/2014/main" id="{8D6E80F0-2CD5-9B83-54C9-668E193DB97A}"/>
              </a:ext>
            </a:extLst>
          </p:cNvPr>
          <p:cNvSpPr/>
          <p:nvPr/>
        </p:nvSpPr>
        <p:spPr>
          <a:xfrm>
            <a:off x="3669992" y="1453895"/>
            <a:ext cx="8144056" cy="40599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descr="A picture containing pie chart&#10;&#10;Description automatically generated">
            <a:extLst>
              <a:ext uri="{FF2B5EF4-FFF2-40B4-BE49-F238E27FC236}">
                <a16:creationId xmlns:a16="http://schemas.microsoft.com/office/drawing/2014/main" id="{A4832B3B-238F-E423-BB42-5E424B09C3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10256" y="1777704"/>
            <a:ext cx="3427182" cy="2763172"/>
          </a:xfrm>
          <a:prstGeom prst="rect">
            <a:avLst/>
          </a:prstGeom>
        </p:spPr>
      </p:pic>
      <p:sp>
        <p:nvSpPr>
          <p:cNvPr id="9" name="Rectangle 8">
            <a:extLst>
              <a:ext uri="{FF2B5EF4-FFF2-40B4-BE49-F238E27FC236}">
                <a16:creationId xmlns:a16="http://schemas.microsoft.com/office/drawing/2014/main" id="{3E54F4D4-A4D5-9691-1011-5CA91EFB2288}"/>
              </a:ext>
            </a:extLst>
          </p:cNvPr>
          <p:cNvSpPr/>
          <p:nvPr/>
        </p:nvSpPr>
        <p:spPr>
          <a:xfrm>
            <a:off x="9337150" y="3819070"/>
            <a:ext cx="1384299" cy="430887"/>
          </a:xfrm>
          <a:prstGeom prst="rect">
            <a:avLst/>
          </a:prstGeom>
          <a:noFill/>
        </p:spPr>
        <p:txBody>
          <a:bodyPr wrap="square" lIns="60960" tIns="30480" rIns="60960" bIns="30480">
            <a:spAutoFit/>
          </a:bodyPr>
          <a:lstStyle/>
          <a:p>
            <a:pPr algn="ctr"/>
            <a:r>
              <a:rPr lang="en-US" sz="2400" spc="400">
                <a:ln w="0">
                  <a:solidFill>
                    <a:schemeClr val="tx1"/>
                  </a:solidFill>
                </a:ln>
                <a:solidFill>
                  <a:schemeClr val="bg1"/>
                </a:solidFill>
                <a:latin typeface="Impact" panose="020B0806030902050204" pitchFamily="34" charset="0"/>
              </a:rPr>
              <a:t>CHILD</a:t>
            </a:r>
            <a:endParaRPr lang="en-CA" sz="8000" spc="400">
              <a:ln w="0">
                <a:solidFill>
                  <a:schemeClr val="tx1"/>
                </a:solidFill>
              </a:ln>
              <a:solidFill>
                <a:schemeClr val="bg1"/>
              </a:solidFill>
            </a:endParaRPr>
          </a:p>
        </p:txBody>
      </p:sp>
      <p:pic>
        <p:nvPicPr>
          <p:cNvPr id="11" name="Graphic 10">
            <a:extLst>
              <a:ext uri="{FF2B5EF4-FFF2-40B4-BE49-F238E27FC236}">
                <a16:creationId xmlns:a16="http://schemas.microsoft.com/office/drawing/2014/main" id="{D956A4D4-731C-B9FF-810F-6BECE85CD5C0}"/>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9602326" y="2625918"/>
            <a:ext cx="563802" cy="563802"/>
          </a:xfrm>
          <a:prstGeom prst="rect">
            <a:avLst/>
          </a:prstGeom>
        </p:spPr>
      </p:pic>
      <p:sp>
        <p:nvSpPr>
          <p:cNvPr id="12" name="Rectangle 11">
            <a:extLst>
              <a:ext uri="{FF2B5EF4-FFF2-40B4-BE49-F238E27FC236}">
                <a16:creationId xmlns:a16="http://schemas.microsoft.com/office/drawing/2014/main" id="{E5FAF565-C9D3-0EA4-9D44-F402F003D979}"/>
              </a:ext>
            </a:extLst>
          </p:cNvPr>
          <p:cNvSpPr/>
          <p:nvPr/>
        </p:nvSpPr>
        <p:spPr>
          <a:xfrm>
            <a:off x="9359851" y="3461684"/>
            <a:ext cx="1323499" cy="430887"/>
          </a:xfrm>
          <a:prstGeom prst="rect">
            <a:avLst/>
          </a:prstGeom>
          <a:noFill/>
        </p:spPr>
        <p:txBody>
          <a:bodyPr wrap="square" lIns="60960" tIns="30480" rIns="60960" bIns="30480">
            <a:spAutoFit/>
          </a:bodyPr>
          <a:lstStyle/>
          <a:p>
            <a:pPr algn="ctr"/>
            <a:r>
              <a:rPr lang="en-US" sz="2400" spc="400">
                <a:ln w="0">
                  <a:solidFill>
                    <a:schemeClr val="tx1"/>
                  </a:solidFill>
                </a:ln>
                <a:solidFill>
                  <a:schemeClr val="bg1"/>
                </a:solidFill>
                <a:latin typeface="Impact" panose="020B0806030902050204" pitchFamily="34" charset="0"/>
              </a:rPr>
              <a:t>EVERY</a:t>
            </a:r>
          </a:p>
        </p:txBody>
      </p:sp>
      <p:sp>
        <p:nvSpPr>
          <p:cNvPr id="13" name="Rectangle 12">
            <a:extLst>
              <a:ext uri="{FF2B5EF4-FFF2-40B4-BE49-F238E27FC236}">
                <a16:creationId xmlns:a16="http://schemas.microsoft.com/office/drawing/2014/main" id="{9405912E-87E0-DF5B-F9B1-084DC99923A4}"/>
              </a:ext>
            </a:extLst>
          </p:cNvPr>
          <p:cNvSpPr/>
          <p:nvPr/>
        </p:nvSpPr>
        <p:spPr>
          <a:xfrm>
            <a:off x="9209380" y="4521921"/>
            <a:ext cx="1816631" cy="430887"/>
          </a:xfrm>
          <a:prstGeom prst="rect">
            <a:avLst/>
          </a:prstGeom>
          <a:noFill/>
        </p:spPr>
        <p:txBody>
          <a:bodyPr wrap="square" lIns="60960" tIns="30480" rIns="60960" bIns="30480">
            <a:spAutoFit/>
          </a:bodyPr>
          <a:lstStyle/>
          <a:p>
            <a:pPr algn="ctr"/>
            <a:r>
              <a:rPr lang="en-US" sz="2400" spc="400">
                <a:ln w="0">
                  <a:solidFill>
                    <a:schemeClr val="tx1"/>
                  </a:solidFill>
                </a:ln>
                <a:solidFill>
                  <a:srgbClr val="FF7F26"/>
                </a:solidFill>
                <a:latin typeface="Impact" panose="020B0806030902050204" pitchFamily="34" charset="0"/>
              </a:rPr>
              <a:t>MATTERS.</a:t>
            </a:r>
            <a:endParaRPr lang="en-CA" sz="2400" spc="400">
              <a:ln w="0">
                <a:solidFill>
                  <a:schemeClr val="tx1"/>
                </a:solidFill>
              </a:ln>
              <a:solidFill>
                <a:srgbClr val="FF7F26"/>
              </a:solidFill>
            </a:endParaRPr>
          </a:p>
        </p:txBody>
      </p:sp>
      <p:sp>
        <p:nvSpPr>
          <p:cNvPr id="14" name="TextBox 13">
            <a:extLst>
              <a:ext uri="{FF2B5EF4-FFF2-40B4-BE49-F238E27FC236}">
                <a16:creationId xmlns:a16="http://schemas.microsoft.com/office/drawing/2014/main" id="{1E93B040-33B4-CA1C-394D-97577E456019}"/>
              </a:ext>
            </a:extLst>
          </p:cNvPr>
          <p:cNvSpPr txBox="1"/>
          <p:nvPr/>
        </p:nvSpPr>
        <p:spPr>
          <a:xfrm>
            <a:off x="8838943" y="4952808"/>
            <a:ext cx="2414274" cy="584775"/>
          </a:xfrm>
          <a:prstGeom prst="rect">
            <a:avLst/>
          </a:prstGeom>
          <a:noFill/>
        </p:spPr>
        <p:txBody>
          <a:bodyPr wrap="square" rtlCol="0">
            <a:spAutoFit/>
          </a:bodyPr>
          <a:lstStyle/>
          <a:p>
            <a:pPr algn="ctr"/>
            <a:r>
              <a:rPr lang="en-US" sz="1600"/>
              <a:t>Adapted from art by </a:t>
            </a:r>
          </a:p>
          <a:p>
            <a:pPr algn="ctr"/>
            <a:r>
              <a:rPr lang="en-US" sz="1600"/>
              <a:t>Timmy Bazylak 6 YO Metis.</a:t>
            </a:r>
          </a:p>
        </p:txBody>
      </p:sp>
      <p:sp>
        <p:nvSpPr>
          <p:cNvPr id="15" name="TextBox 14">
            <a:extLst>
              <a:ext uri="{FF2B5EF4-FFF2-40B4-BE49-F238E27FC236}">
                <a16:creationId xmlns:a16="http://schemas.microsoft.com/office/drawing/2014/main" id="{4D273921-8BEF-526A-E0D4-87ED67F7D89F}"/>
              </a:ext>
            </a:extLst>
          </p:cNvPr>
          <p:cNvSpPr txBox="1"/>
          <p:nvPr/>
        </p:nvSpPr>
        <p:spPr>
          <a:xfrm>
            <a:off x="3915877" y="2614827"/>
            <a:ext cx="4677181" cy="2862322"/>
          </a:xfrm>
          <a:prstGeom prst="rect">
            <a:avLst/>
          </a:prstGeom>
          <a:noFill/>
        </p:spPr>
        <p:txBody>
          <a:bodyPr wrap="square" rtlCol="0">
            <a:spAutoFit/>
          </a:bodyPr>
          <a:lstStyle/>
          <a:p>
            <a:pPr marL="285750" indent="-285750" algn="l">
              <a:buFont typeface="Arial" panose="020B0604020202020204" pitchFamily="34" charset="0"/>
              <a:buChar char="•"/>
            </a:pPr>
            <a:endParaRPr lang="en-US" sz="1800" b="0" i="0">
              <a:solidFill>
                <a:srgbClr val="000000"/>
              </a:solidFill>
              <a:effectLst/>
              <a:latin typeface="inherit"/>
            </a:endParaRPr>
          </a:p>
          <a:p>
            <a:pPr marL="285750" indent="-285750" algn="l">
              <a:buFont typeface="Arial" panose="020B0604020202020204" pitchFamily="34" charset="0"/>
              <a:buChar char="•"/>
            </a:pPr>
            <a:r>
              <a:rPr lang="en-US" sz="1800" b="0" i="0">
                <a:solidFill>
                  <a:srgbClr val="000000"/>
                </a:solidFill>
                <a:effectLst/>
                <a:latin typeface="inherit"/>
              </a:rPr>
              <a:t>Start or continue your journey toward reconciliation by engaging with U of T Engineering’s </a:t>
            </a:r>
            <a:r>
              <a:rPr lang="en-US" sz="1800" b="0" i="0">
                <a:solidFill>
                  <a:srgbClr val="0000FF"/>
                </a:solidFill>
                <a:effectLst/>
                <a:latin typeface="inherit"/>
                <a:hlinkClick r:id="rId7"/>
              </a:rPr>
              <a:t>Indigenous Cultural Competency Toolkit</a:t>
            </a:r>
            <a:r>
              <a:rPr lang="en-US" sz="1800" b="0" i="0">
                <a:solidFill>
                  <a:srgbClr val="000000"/>
                </a:solidFill>
                <a:effectLst/>
                <a:latin typeface="inherit"/>
              </a:rPr>
              <a:t>, with a focus on exploring the section titled “As a non-Indigenous person, how can I help?” </a:t>
            </a:r>
            <a:endParaRPr lang="en-US" sz="1800" b="0" i="0">
              <a:solidFill>
                <a:srgbClr val="000000"/>
              </a:solidFill>
              <a:effectLst/>
              <a:latin typeface="Aptos" panose="020B0004020202020204" pitchFamily="34" charset="0"/>
            </a:endParaRPr>
          </a:p>
          <a:p>
            <a:pPr marL="285750" indent="-285750" algn="l">
              <a:buFont typeface="Arial" panose="020B0604020202020204" pitchFamily="34" charset="0"/>
              <a:buChar char="•"/>
            </a:pPr>
            <a:r>
              <a:rPr lang="en-US" sz="1800" b="0" i="0">
                <a:solidFill>
                  <a:srgbClr val="000000"/>
                </a:solidFill>
                <a:effectLst/>
                <a:latin typeface="inherit"/>
              </a:rPr>
              <a:t>Learn about the significance of </a:t>
            </a:r>
            <a:r>
              <a:rPr lang="en-US" sz="1800" b="0" i="0">
                <a:solidFill>
                  <a:srgbClr val="0000FF"/>
                </a:solidFill>
                <a:effectLst/>
                <a:latin typeface="inherit"/>
                <a:hlinkClick r:id="rId8" tooltip="Original URL: https://orangeshirtday.org/. Click or tap if you trust this link."/>
              </a:rPr>
              <a:t>Orange Shirt Day</a:t>
            </a:r>
            <a:r>
              <a:rPr lang="en-US" sz="1800" b="0" i="0">
                <a:solidFill>
                  <a:srgbClr val="000000"/>
                </a:solidFill>
                <a:effectLst/>
                <a:latin typeface="inherit"/>
              </a:rPr>
              <a:t> and wear an orange shirt on September 30.</a:t>
            </a:r>
            <a:endParaRPr lang="en-US" sz="1800" b="0" i="0">
              <a:solidFill>
                <a:srgbClr val="000000"/>
              </a:solidFill>
              <a:effectLst/>
              <a:latin typeface="Aptos" panose="020B0004020202020204" pitchFamily="34" charset="0"/>
            </a:endParaRPr>
          </a:p>
        </p:txBody>
      </p:sp>
      <p:pic>
        <p:nvPicPr>
          <p:cNvPr id="5" name="Picture 4" descr="A qr code on a white background&#10;&#10;Description automatically generated">
            <a:extLst>
              <a:ext uri="{FF2B5EF4-FFF2-40B4-BE49-F238E27FC236}">
                <a16:creationId xmlns:a16="http://schemas.microsoft.com/office/drawing/2014/main" id="{C6DAD9D1-A2B5-9822-FE0C-9126C492228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23055" y="5572958"/>
            <a:ext cx="1237220" cy="1237220"/>
          </a:xfrm>
          <a:prstGeom prst="rect">
            <a:avLst/>
          </a:prstGeom>
        </p:spPr>
      </p:pic>
      <p:cxnSp>
        <p:nvCxnSpPr>
          <p:cNvPr id="22" name="Connector: Elbow 21">
            <a:extLst>
              <a:ext uri="{FF2B5EF4-FFF2-40B4-BE49-F238E27FC236}">
                <a16:creationId xmlns:a16="http://schemas.microsoft.com/office/drawing/2014/main" id="{63461B6A-8591-D931-5F89-DFC88F872E7E}"/>
              </a:ext>
            </a:extLst>
          </p:cNvPr>
          <p:cNvCxnSpPr>
            <a:cxnSpLocks/>
          </p:cNvCxnSpPr>
          <p:nvPr/>
        </p:nvCxnSpPr>
        <p:spPr>
          <a:xfrm rot="5400000">
            <a:off x="2927163" y="4296358"/>
            <a:ext cx="1749625" cy="795050"/>
          </a:xfrm>
          <a:prstGeom prst="bentConnector3">
            <a:avLst>
              <a:gd name="adj1" fmla="val 2093"/>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descr="A qr code on a white background&#10;&#10;Description automatically generated">
            <a:extLst>
              <a:ext uri="{FF2B5EF4-FFF2-40B4-BE49-F238E27FC236}">
                <a16:creationId xmlns:a16="http://schemas.microsoft.com/office/drawing/2014/main" id="{2BAA27FD-8DAE-3C7B-38A6-181D1148BC1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974940" y="5568696"/>
            <a:ext cx="1234440" cy="1234440"/>
          </a:xfrm>
          <a:prstGeom prst="rect">
            <a:avLst/>
          </a:prstGeom>
        </p:spPr>
      </p:pic>
      <p:cxnSp>
        <p:nvCxnSpPr>
          <p:cNvPr id="28" name="Connector: Elbow 27">
            <a:extLst>
              <a:ext uri="{FF2B5EF4-FFF2-40B4-BE49-F238E27FC236}">
                <a16:creationId xmlns:a16="http://schemas.microsoft.com/office/drawing/2014/main" id="{C63C2C7A-C55B-71C7-37D6-DA1258AF98F8}"/>
              </a:ext>
            </a:extLst>
          </p:cNvPr>
          <p:cNvCxnSpPr>
            <a:cxnSpLocks/>
          </p:cNvCxnSpPr>
          <p:nvPr/>
        </p:nvCxnSpPr>
        <p:spPr>
          <a:xfrm>
            <a:off x="7153775" y="5022850"/>
            <a:ext cx="985970" cy="490983"/>
          </a:xfrm>
          <a:prstGeom prst="bentConnector3">
            <a:avLst>
              <a:gd name="adj1" fmla="val 9959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2107F38-9A3C-1F85-87C2-934EFFEC694C}"/>
              </a:ext>
            </a:extLst>
          </p:cNvPr>
          <p:cNvSpPr txBox="1"/>
          <p:nvPr/>
        </p:nvSpPr>
        <p:spPr>
          <a:xfrm>
            <a:off x="3982636" y="1663849"/>
            <a:ext cx="4157110" cy="1200329"/>
          </a:xfrm>
          <a:prstGeom prst="rect">
            <a:avLst/>
          </a:prstGeom>
          <a:noFill/>
        </p:spPr>
        <p:txBody>
          <a:bodyPr wrap="square">
            <a:spAutoFit/>
          </a:bodyPr>
          <a:lstStyle/>
          <a:p>
            <a:pPr algn="ctr"/>
            <a:r>
              <a:rPr lang="en-US" sz="2400" b="1" i="0">
                <a:solidFill>
                  <a:srgbClr val="000000"/>
                </a:solidFill>
                <a:effectLst/>
                <a:latin typeface="inherit"/>
              </a:rPr>
              <a:t>Ways to commemorate Orange Shirt Day and the National Day for Truth &amp; Reconciliation</a:t>
            </a:r>
            <a:endParaRPr lang="en-US" sz="2400" b="0" i="0">
              <a:solidFill>
                <a:srgbClr val="000000"/>
              </a:solidFill>
              <a:effectLst/>
              <a:latin typeface="Aptos" panose="020B0004020202020204" pitchFamily="34" charset="0"/>
            </a:endParaRPr>
          </a:p>
        </p:txBody>
      </p:sp>
    </p:spTree>
    <p:extLst>
      <p:ext uri="{BB962C8B-B14F-4D97-AF65-F5344CB8AC3E}">
        <p14:creationId xmlns:p14="http://schemas.microsoft.com/office/powerpoint/2010/main" val="3661921481"/>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8393A5D3-F670-A142-8AE3-2D21BD3D4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Rectangle 1">
            <a:extLst>
              <a:ext uri="{FF2B5EF4-FFF2-40B4-BE49-F238E27FC236}">
                <a16:creationId xmlns:a16="http://schemas.microsoft.com/office/drawing/2014/main" id="{88A0C0FD-9E54-4D7D-B1C1-0DE8D7D592EC}"/>
              </a:ext>
            </a:extLst>
          </p:cNvPr>
          <p:cNvSpPr/>
          <p:nvPr/>
        </p:nvSpPr>
        <p:spPr>
          <a:xfrm>
            <a:off x="5986272" y="1182624"/>
            <a:ext cx="6205728" cy="9086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3000" b="0" i="0" u="none" strike="noStrike" kern="1200" cap="none" spc="0" normalizeH="0" baseline="0" noProof="0">
                <a:ln>
                  <a:noFill/>
                </a:ln>
                <a:solidFill>
                  <a:prstClr val="black"/>
                </a:solidFill>
                <a:effectLst/>
                <a:uLnTx/>
                <a:uFillTx/>
                <a:latin typeface="Calibri" panose="020F0502020204030204"/>
                <a:ea typeface="+mn-ea"/>
                <a:cs typeface="+mn-cs"/>
              </a:rPr>
              <a:t>Weaponization of Education: Residential Schools</a:t>
            </a:r>
          </a:p>
        </p:txBody>
      </p:sp>
      <p:sp>
        <p:nvSpPr>
          <p:cNvPr id="3" name="Rectangle 2">
            <a:extLst>
              <a:ext uri="{FF2B5EF4-FFF2-40B4-BE49-F238E27FC236}">
                <a16:creationId xmlns:a16="http://schemas.microsoft.com/office/drawing/2014/main" id="{1355D0EE-B232-4D13-ACBB-A52564CEEA16}"/>
              </a:ext>
            </a:extLst>
          </p:cNvPr>
          <p:cNvSpPr/>
          <p:nvPr/>
        </p:nvSpPr>
        <p:spPr>
          <a:xfrm>
            <a:off x="158496" y="1636972"/>
            <a:ext cx="5827776" cy="440120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1" u="none" strike="noStrike" kern="1200" cap="none" spc="0" normalizeH="0" baseline="0" noProof="0">
                <a:ln>
                  <a:noFill/>
                </a:ln>
                <a:solidFill>
                  <a:srgbClr val="000000"/>
                </a:solidFill>
                <a:effectLst/>
                <a:uLnTx/>
                <a:uFillTx/>
                <a:latin typeface="Cantarell"/>
                <a:ea typeface="+mn-ea"/>
                <a:cs typeface="+mn-cs"/>
              </a:rPr>
              <a:t>When the school is on the reserve the child lives with </a:t>
            </a:r>
            <a:r>
              <a:rPr kumimoji="0" lang="en-CA" sz="2000" b="1" i="1" u="none" strike="noStrike" kern="1200" cap="none" spc="0" normalizeH="0" baseline="0" noProof="0">
                <a:ln>
                  <a:noFill/>
                </a:ln>
                <a:solidFill>
                  <a:srgbClr val="000000"/>
                </a:solidFill>
                <a:effectLst/>
                <a:uLnTx/>
                <a:uFillTx/>
                <a:latin typeface="Cantarell"/>
                <a:ea typeface="+mn-ea"/>
                <a:cs typeface="+mn-cs"/>
              </a:rPr>
              <a:t>its</a:t>
            </a:r>
            <a:r>
              <a:rPr kumimoji="0" lang="en-CA" sz="2000" b="0" i="1" u="none" strike="noStrike" kern="1200" cap="none" spc="0" normalizeH="0" baseline="0" noProof="0">
                <a:ln>
                  <a:noFill/>
                </a:ln>
                <a:solidFill>
                  <a:srgbClr val="000000"/>
                </a:solidFill>
                <a:effectLst/>
                <a:uLnTx/>
                <a:uFillTx/>
                <a:latin typeface="Cantarell"/>
                <a:ea typeface="+mn-ea"/>
                <a:cs typeface="+mn-cs"/>
              </a:rPr>
              <a:t> parents, who are </a:t>
            </a:r>
            <a:r>
              <a:rPr kumimoji="0" lang="en-CA" sz="2000" b="1" i="1" u="none" strike="noStrike" kern="1200" cap="none" spc="0" normalizeH="0" baseline="0" noProof="0">
                <a:ln>
                  <a:noFill/>
                </a:ln>
                <a:solidFill>
                  <a:srgbClr val="000000"/>
                </a:solidFill>
                <a:effectLst/>
                <a:uLnTx/>
                <a:uFillTx/>
                <a:latin typeface="Cantarell"/>
                <a:ea typeface="+mn-ea"/>
                <a:cs typeface="+mn-cs"/>
              </a:rPr>
              <a:t>savages</a:t>
            </a:r>
            <a:r>
              <a:rPr kumimoji="0" lang="en-CA" sz="2000" b="0" i="1" u="none" strike="noStrike" kern="1200" cap="none" spc="0" normalizeH="0" baseline="0" noProof="0">
                <a:ln>
                  <a:noFill/>
                </a:ln>
                <a:solidFill>
                  <a:srgbClr val="000000"/>
                </a:solidFill>
                <a:effectLst/>
                <a:uLnTx/>
                <a:uFillTx/>
                <a:latin typeface="Cantarell"/>
                <a:ea typeface="+mn-ea"/>
                <a:cs typeface="+mn-cs"/>
              </a:rPr>
              <a:t>; he is surrounded by savages, and though he may learn to read and write his habits, and training and mode of thought are Indian. He is </a:t>
            </a:r>
            <a:r>
              <a:rPr kumimoji="0" lang="en-CA" sz="2000" b="1" i="1" u="none" strike="noStrike" kern="1200" cap="none" spc="0" normalizeH="0" baseline="0" noProof="0">
                <a:ln>
                  <a:noFill/>
                </a:ln>
                <a:solidFill>
                  <a:srgbClr val="000000"/>
                </a:solidFill>
                <a:effectLst/>
                <a:uLnTx/>
                <a:uFillTx/>
                <a:latin typeface="Cantarell"/>
                <a:ea typeface="+mn-ea"/>
                <a:cs typeface="+mn-cs"/>
              </a:rPr>
              <a:t>simply a savage who can read and write</a:t>
            </a:r>
            <a:r>
              <a:rPr kumimoji="0" lang="en-CA" sz="2000" b="0" i="1" u="none" strike="noStrike" kern="1200" cap="none" spc="0" normalizeH="0" baseline="0" noProof="0">
                <a:ln>
                  <a:noFill/>
                </a:ln>
                <a:solidFill>
                  <a:srgbClr val="000000"/>
                </a:solidFill>
                <a:effectLst/>
                <a:uLnTx/>
                <a:uFillTx/>
                <a:latin typeface="Cantarell"/>
                <a:ea typeface="+mn-ea"/>
                <a:cs typeface="+mn-cs"/>
              </a:rPr>
              <a:t>. It has been strongly pressed on myself, as the head of the Department, that Indian children should be withdrawn as much as possible from the parental influence, and the only way to do that would be to put them in central training industrial schools where they will </a:t>
            </a:r>
            <a:r>
              <a:rPr kumimoji="0" lang="en-CA" sz="2000" b="1" i="1" u="none" strike="noStrike" kern="1200" cap="none" spc="0" normalizeH="0" baseline="0" noProof="0">
                <a:ln>
                  <a:noFill/>
                </a:ln>
                <a:solidFill>
                  <a:srgbClr val="000000"/>
                </a:solidFill>
                <a:effectLst/>
                <a:uLnTx/>
                <a:uFillTx/>
                <a:latin typeface="Cantarell"/>
                <a:ea typeface="+mn-ea"/>
                <a:cs typeface="+mn-cs"/>
              </a:rPr>
              <a:t>acquire the habits and modes of thought of white men</a:t>
            </a:r>
            <a:r>
              <a:rPr kumimoji="0" lang="en-CA" sz="2000" b="0" i="1" u="none" strike="noStrike" kern="1200" cap="none" spc="0" normalizeH="0" baseline="0" noProof="0">
                <a:ln>
                  <a:noFill/>
                </a:ln>
                <a:solidFill>
                  <a:srgbClr val="000000"/>
                </a:solidFill>
                <a:effectLst/>
                <a:uLnTx/>
                <a:uFillTx/>
                <a:latin typeface="Cantarel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1" u="none" strike="noStrike" kern="1200" cap="none" spc="0" normalizeH="0" baseline="0" noProof="0">
                <a:ln>
                  <a:noFill/>
                </a:ln>
                <a:solidFill>
                  <a:srgbClr val="000000"/>
                </a:solidFill>
                <a:effectLst/>
                <a:uLnTx/>
                <a:uFillTx/>
                <a:latin typeface="Cantarell"/>
                <a:ea typeface="+mn-ea"/>
                <a:cs typeface="+mn-cs"/>
              </a:rPr>
              <a:t>– John A. Macdonald to the House of Commons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2000" b="0" i="1" u="none" strike="noStrike" kern="1200" cap="none" spc="0" normalizeH="0" baseline="0" noProof="0">
                <a:ln>
                  <a:noFill/>
                </a:ln>
                <a:solidFill>
                  <a:srgbClr val="000000"/>
                </a:solidFill>
                <a:effectLst/>
                <a:uLnTx/>
                <a:uFillTx/>
                <a:latin typeface="Cantarell"/>
                <a:ea typeface="+mn-ea"/>
                <a:cs typeface="+mn-cs"/>
              </a:rPr>
              <a:t>1</a:t>
            </a:r>
            <a:r>
              <a:rPr kumimoji="0" lang="en-CA" sz="2000" b="0" i="1" u="none" strike="noStrike" kern="1200" cap="none" spc="0" normalizeH="0" baseline="30000" noProof="0">
                <a:ln>
                  <a:noFill/>
                </a:ln>
                <a:solidFill>
                  <a:srgbClr val="000000"/>
                </a:solidFill>
                <a:effectLst/>
                <a:uLnTx/>
                <a:uFillTx/>
                <a:latin typeface="Cantarell"/>
                <a:ea typeface="+mn-ea"/>
                <a:cs typeface="+mn-cs"/>
              </a:rPr>
              <a:t>st</a:t>
            </a:r>
            <a:r>
              <a:rPr kumimoji="0" lang="en-CA" sz="2000" b="0" i="1" u="none" strike="noStrike" kern="1200" cap="none" spc="0" normalizeH="0" baseline="0" noProof="0">
                <a:ln>
                  <a:noFill/>
                </a:ln>
                <a:solidFill>
                  <a:srgbClr val="000000"/>
                </a:solidFill>
                <a:effectLst/>
                <a:uLnTx/>
                <a:uFillTx/>
                <a:latin typeface="Cantarell"/>
                <a:ea typeface="+mn-ea"/>
                <a:cs typeface="+mn-cs"/>
              </a:rPr>
              <a:t> Prime Minister of Canada</a:t>
            </a:r>
          </a:p>
        </p:txBody>
      </p:sp>
      <p:pic>
        <p:nvPicPr>
          <p:cNvPr id="1028" name="Picture 4" descr="https://nationalpostcom.files.wordpress.com/2015/06/thomas-moore.jpg">
            <a:extLst>
              <a:ext uri="{FF2B5EF4-FFF2-40B4-BE49-F238E27FC236}">
                <a16:creationId xmlns:a16="http://schemas.microsoft.com/office/drawing/2014/main" id="{859E89C6-CC43-42F6-BA16-BD03268BE4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091321"/>
            <a:ext cx="6058401" cy="45438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2355D78-E83D-550B-F9AC-CA1B62AB715F}"/>
              </a:ext>
            </a:extLst>
          </p:cNvPr>
          <p:cNvSpPr txBox="1"/>
          <p:nvPr/>
        </p:nvSpPr>
        <p:spPr>
          <a:xfrm>
            <a:off x="6689344" y="6611779"/>
            <a:ext cx="668528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prstClr val="black"/>
                </a:solidFill>
                <a:effectLst/>
                <a:uLnTx/>
                <a:uFillTx/>
                <a:latin typeface="Calibri" panose="020F0502020204030204"/>
                <a:ea typeface="+mn-ea"/>
                <a:cs typeface="+mn-cs"/>
                <a:hlinkClick r:id="rId5"/>
              </a:rPr>
              <a:t>https://thecanadianencyclopedia.ca/en/collection/educational-resources-indigenous-peoples-in-canada</a:t>
            </a:r>
            <a:r>
              <a:rPr kumimoji="0" lang="en-CA" sz="1000" b="0" i="0" u="none" strike="noStrike" kern="1200" cap="none" spc="0" normalizeH="0" baseline="0" noProof="0">
                <a:ln>
                  <a:noFill/>
                </a:ln>
                <a:solidFill>
                  <a:prstClr val="black"/>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2821626291"/>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E2CB8-6981-7237-914F-8B2FC88B9B5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427DB62-537E-D419-51E6-66504CBBB3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687257045"/>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605E6-6A11-C4B5-7320-B5578C84FDC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251033-4B92-C9CD-1C9A-53955CA9A1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06097858"/>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A7A4-DC75-ACB9-D3DF-2376CFDE24F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A169773-27D8-C5D2-A855-92EBD157B65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1999" cy="6857999"/>
          </a:xfrm>
          <a:prstGeom prst="rect">
            <a:avLst/>
          </a:prstGeom>
        </p:spPr>
      </p:pic>
    </p:spTree>
    <p:extLst>
      <p:ext uri="{BB962C8B-B14F-4D97-AF65-F5344CB8AC3E}">
        <p14:creationId xmlns:p14="http://schemas.microsoft.com/office/powerpoint/2010/main" val="2047816034"/>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627B-661B-1BE3-B191-2B276805037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D56B87E-826C-DDA5-8558-A4A958E1367A}"/>
              </a:ext>
            </a:extLst>
          </p:cNvPr>
          <p:cNvPicPr>
            <a:picLocks noChangeAspect="1"/>
          </p:cNvPicPr>
          <p:nvPr/>
        </p:nvPicPr>
        <p:blipFill>
          <a:blip r:embed="rId3"/>
          <a:srcRect/>
          <a:stretch/>
        </p:blipFill>
        <p:spPr>
          <a:xfrm>
            <a:off x="10" y="0"/>
            <a:ext cx="12191976" cy="6857987"/>
          </a:xfrm>
          <a:prstGeom prst="rect">
            <a:avLst/>
          </a:prstGeom>
        </p:spPr>
      </p:pic>
    </p:spTree>
    <p:extLst>
      <p:ext uri="{BB962C8B-B14F-4D97-AF65-F5344CB8AC3E}">
        <p14:creationId xmlns:p14="http://schemas.microsoft.com/office/powerpoint/2010/main" val="180009969"/>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7CB58-EAF6-ED63-A385-20A26F2663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F68C308-15A3-3F18-0CAB-3590E7280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719296268"/>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p:blipFill>
        <p:spPr>
          <a:xfrm>
            <a:off x="7611" y="4277"/>
            <a:ext cx="12184378" cy="6853713"/>
          </a:xfrm>
          <a:prstGeom prst="rect">
            <a:avLst/>
          </a:prstGeom>
        </p:spPr>
      </p:pic>
    </p:spTree>
    <p:extLst>
      <p:ext uri="{BB962C8B-B14F-4D97-AF65-F5344CB8AC3E}">
        <p14:creationId xmlns:p14="http://schemas.microsoft.com/office/powerpoint/2010/main" val="1440762908"/>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D336-2620-07B1-1CBB-AFE6495DB48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FE72271-5329-35EA-3ABD-80D00E85E4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737757556"/>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CBC76D-97F7-4C4C-98C7-155D79FAC86B}"/>
              </a:ext>
            </a:extLst>
          </p:cNvPr>
          <p:cNvPicPr>
            <a:picLocks noChangeAspect="1"/>
          </p:cNvPicPr>
          <p:nvPr/>
        </p:nvPicPr>
        <p:blipFill>
          <a:blip r:embed="rId3"/>
          <a:srcRect/>
          <a:stretch/>
        </p:blipFill>
        <p:spPr>
          <a:xfrm>
            <a:off x="7" y="0"/>
            <a:ext cx="12191983" cy="6857991"/>
          </a:xfrm>
          <a:prstGeom prst="rect">
            <a:avLst/>
          </a:prstGeom>
        </p:spPr>
      </p:pic>
    </p:spTree>
    <p:extLst>
      <p:ext uri="{BB962C8B-B14F-4D97-AF65-F5344CB8AC3E}">
        <p14:creationId xmlns:p14="http://schemas.microsoft.com/office/powerpoint/2010/main" val="1792626933"/>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 y="2"/>
            <a:ext cx="12191988" cy="6857993"/>
          </a:xfrm>
          <a:prstGeom prst="rect">
            <a:avLst/>
          </a:prstGeom>
        </p:spPr>
      </p:pic>
    </p:spTree>
    <p:extLst>
      <p:ext uri="{BB962C8B-B14F-4D97-AF65-F5344CB8AC3E}">
        <p14:creationId xmlns:p14="http://schemas.microsoft.com/office/powerpoint/2010/main" val="3646492551"/>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person&#10;&#10;AI-generated content may be incorrect.">
            <a:extLst>
              <a:ext uri="{FF2B5EF4-FFF2-40B4-BE49-F238E27FC236}">
                <a16:creationId xmlns:a16="http://schemas.microsoft.com/office/drawing/2014/main" id="{AFC51012-3A15-AF0B-7F6F-1FF7EBF547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74264313"/>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74D471-6BF3-2752-0A36-C479B96928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52533900"/>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A9161B-88DC-6158-3FE2-5EFFEA38C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25333212"/>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8302" y="361071"/>
            <a:ext cx="13322796" cy="6215346"/>
            <a:chOff x="0" y="0"/>
            <a:chExt cx="26645592" cy="12430692"/>
          </a:xfrm>
        </p:grpSpPr>
        <p:sp>
          <p:nvSpPr>
            <p:cNvPr id="3" name="AutoShape 3"/>
            <p:cNvSpPr/>
            <p:nvPr/>
          </p:nvSpPr>
          <p:spPr>
            <a:xfrm flipV="1">
              <a:off x="30" y="31750"/>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4" name="AutoShape 4"/>
            <p:cNvSpPr/>
            <p:nvPr/>
          </p:nvSpPr>
          <p:spPr>
            <a:xfrm flipV="1">
              <a:off x="30" y="1403060"/>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5" name="AutoShape 5"/>
            <p:cNvSpPr/>
            <p:nvPr/>
          </p:nvSpPr>
          <p:spPr>
            <a:xfrm flipV="1">
              <a:off x="30" y="2774370"/>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6" name="AutoShape 6"/>
            <p:cNvSpPr/>
            <p:nvPr/>
          </p:nvSpPr>
          <p:spPr>
            <a:xfrm flipV="1">
              <a:off x="30" y="414568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7" name="AutoShape 7"/>
            <p:cNvSpPr/>
            <p:nvPr/>
          </p:nvSpPr>
          <p:spPr>
            <a:xfrm flipV="1">
              <a:off x="30" y="551699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8" name="AutoShape 8"/>
            <p:cNvSpPr/>
            <p:nvPr/>
          </p:nvSpPr>
          <p:spPr>
            <a:xfrm flipV="1">
              <a:off x="30" y="688830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9" name="AutoShape 9"/>
            <p:cNvSpPr/>
            <p:nvPr/>
          </p:nvSpPr>
          <p:spPr>
            <a:xfrm flipV="1">
              <a:off x="30" y="825961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10" name="AutoShape 10"/>
            <p:cNvSpPr/>
            <p:nvPr/>
          </p:nvSpPr>
          <p:spPr>
            <a:xfrm flipV="1">
              <a:off x="30" y="9630922"/>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11" name="AutoShape 11"/>
            <p:cNvSpPr/>
            <p:nvPr/>
          </p:nvSpPr>
          <p:spPr>
            <a:xfrm flipV="1">
              <a:off x="30" y="11002232"/>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12" name="AutoShape 12"/>
            <p:cNvSpPr/>
            <p:nvPr/>
          </p:nvSpPr>
          <p:spPr>
            <a:xfrm flipV="1">
              <a:off x="30" y="12373542"/>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grpSp>
      <p:grpSp>
        <p:nvGrpSpPr>
          <p:cNvPr id="13" name="Group 13"/>
          <p:cNvGrpSpPr/>
          <p:nvPr/>
        </p:nvGrpSpPr>
        <p:grpSpPr>
          <a:xfrm>
            <a:off x="2540946" y="5346308"/>
            <a:ext cx="6762213" cy="917454"/>
            <a:chOff x="0" y="0"/>
            <a:chExt cx="13524425" cy="1834909"/>
          </a:xfrm>
        </p:grpSpPr>
        <p:sp>
          <p:nvSpPr>
            <p:cNvPr id="14" name="Freeform 14"/>
            <p:cNvSpPr/>
            <p:nvPr/>
          </p:nvSpPr>
          <p:spPr>
            <a:xfrm flipH="1">
              <a:off x="0" y="359517"/>
              <a:ext cx="13524425" cy="1475392"/>
            </a:xfrm>
            <a:custGeom>
              <a:avLst/>
              <a:gdLst/>
              <a:ahLst/>
              <a:cxnLst/>
              <a:rect l="l" t="t" r="r" b="b"/>
              <a:pathLst>
                <a:path w="13524425" h="1475392">
                  <a:moveTo>
                    <a:pt x="13524425" y="0"/>
                  </a:moveTo>
                  <a:lnTo>
                    <a:pt x="0" y="0"/>
                  </a:lnTo>
                  <a:lnTo>
                    <a:pt x="0" y="1475392"/>
                  </a:lnTo>
                  <a:lnTo>
                    <a:pt x="13524425" y="1475392"/>
                  </a:lnTo>
                  <a:lnTo>
                    <a:pt x="1352442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5" name="Freeform 15"/>
            <p:cNvSpPr/>
            <p:nvPr/>
          </p:nvSpPr>
          <p:spPr>
            <a:xfrm>
              <a:off x="0" y="0"/>
              <a:ext cx="13524425" cy="1475392"/>
            </a:xfrm>
            <a:custGeom>
              <a:avLst/>
              <a:gdLst/>
              <a:ahLst/>
              <a:cxnLst/>
              <a:rect l="l" t="t" r="r" b="b"/>
              <a:pathLst>
                <a:path w="13524425" h="1475392">
                  <a:moveTo>
                    <a:pt x="0" y="0"/>
                  </a:moveTo>
                  <a:lnTo>
                    <a:pt x="13524425" y="0"/>
                  </a:lnTo>
                  <a:lnTo>
                    <a:pt x="13524425" y="1475392"/>
                  </a:lnTo>
                  <a:lnTo>
                    <a:pt x="0" y="1475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6" name="TextBox 16"/>
            <p:cNvSpPr txBox="1"/>
            <p:nvPr/>
          </p:nvSpPr>
          <p:spPr>
            <a:xfrm>
              <a:off x="870832" y="188066"/>
              <a:ext cx="11782763" cy="987195"/>
            </a:xfrm>
            <a:prstGeom prst="rect">
              <a:avLst/>
            </a:prstGeom>
          </p:spPr>
          <p:txBody>
            <a:bodyPr lIns="0" tIns="0" rIns="0" bIns="0" rtlCol="0" anchor="t">
              <a:spAutoFit/>
            </a:bodyPr>
            <a:lstStyle/>
            <a:p>
              <a:pPr algn="ctr">
                <a:lnSpc>
                  <a:spcPts val="4106"/>
                </a:lnSpc>
              </a:pPr>
              <a:r>
                <a:rPr lang="en-US" sz="2933">
                  <a:solidFill>
                    <a:srgbClr val="FFFFFF"/>
                  </a:solidFill>
                  <a:latin typeface="Trade Gothic LT Std"/>
                  <a:ea typeface="Trade Gothic LT Std"/>
                  <a:cs typeface="Trade Gothic LT Std"/>
                  <a:sym typeface="Trade Gothic LT Std"/>
                </a:rPr>
                <a:t>Wednesdays 5–7 p.m. in MY 317</a:t>
              </a:r>
            </a:p>
          </p:txBody>
        </p:sp>
      </p:grpSp>
      <p:grpSp>
        <p:nvGrpSpPr>
          <p:cNvPr id="17" name="Group 17"/>
          <p:cNvGrpSpPr/>
          <p:nvPr/>
        </p:nvGrpSpPr>
        <p:grpSpPr>
          <a:xfrm>
            <a:off x="2540946" y="4062026"/>
            <a:ext cx="6762213" cy="917454"/>
            <a:chOff x="0" y="0"/>
            <a:chExt cx="13524425" cy="1834909"/>
          </a:xfrm>
        </p:grpSpPr>
        <p:sp>
          <p:nvSpPr>
            <p:cNvPr id="18" name="Freeform 18"/>
            <p:cNvSpPr/>
            <p:nvPr/>
          </p:nvSpPr>
          <p:spPr>
            <a:xfrm flipH="1">
              <a:off x="0" y="359517"/>
              <a:ext cx="13524425" cy="1475392"/>
            </a:xfrm>
            <a:custGeom>
              <a:avLst/>
              <a:gdLst/>
              <a:ahLst/>
              <a:cxnLst/>
              <a:rect l="l" t="t" r="r" b="b"/>
              <a:pathLst>
                <a:path w="13524425" h="1475392">
                  <a:moveTo>
                    <a:pt x="13524425" y="0"/>
                  </a:moveTo>
                  <a:lnTo>
                    <a:pt x="0" y="0"/>
                  </a:lnTo>
                  <a:lnTo>
                    <a:pt x="0" y="1475392"/>
                  </a:lnTo>
                  <a:lnTo>
                    <a:pt x="13524425" y="1475392"/>
                  </a:lnTo>
                  <a:lnTo>
                    <a:pt x="1352442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9" name="Freeform 19"/>
            <p:cNvSpPr/>
            <p:nvPr/>
          </p:nvSpPr>
          <p:spPr>
            <a:xfrm>
              <a:off x="0" y="0"/>
              <a:ext cx="13524425" cy="1475392"/>
            </a:xfrm>
            <a:custGeom>
              <a:avLst/>
              <a:gdLst/>
              <a:ahLst/>
              <a:cxnLst/>
              <a:rect l="l" t="t" r="r" b="b"/>
              <a:pathLst>
                <a:path w="13524425" h="1475392">
                  <a:moveTo>
                    <a:pt x="0" y="0"/>
                  </a:moveTo>
                  <a:lnTo>
                    <a:pt x="13524425" y="0"/>
                  </a:lnTo>
                  <a:lnTo>
                    <a:pt x="13524425" y="1475392"/>
                  </a:lnTo>
                  <a:lnTo>
                    <a:pt x="0" y="1475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20" name="TextBox 20"/>
            <p:cNvSpPr txBox="1"/>
            <p:nvPr/>
          </p:nvSpPr>
          <p:spPr>
            <a:xfrm>
              <a:off x="1489520" y="249686"/>
              <a:ext cx="10545385" cy="987195"/>
            </a:xfrm>
            <a:prstGeom prst="rect">
              <a:avLst/>
            </a:prstGeom>
          </p:spPr>
          <p:txBody>
            <a:bodyPr lIns="0" tIns="0" rIns="0" bIns="0" rtlCol="0" anchor="t">
              <a:spAutoFit/>
            </a:bodyPr>
            <a:lstStyle/>
            <a:p>
              <a:pPr algn="ctr">
                <a:lnSpc>
                  <a:spcPts val="4106"/>
                </a:lnSpc>
              </a:pPr>
              <a:r>
                <a:rPr lang="en-US" sz="2933">
                  <a:solidFill>
                    <a:srgbClr val="FFFFFF"/>
                  </a:solidFill>
                  <a:latin typeface="Trade Gothic LT Std"/>
                  <a:ea typeface="Trade Gothic LT Std"/>
                  <a:cs typeface="Trade Gothic LT Std"/>
                  <a:sym typeface="Trade Gothic LT Std"/>
                </a:rPr>
                <a:t>Tuesdays 5–7 p.m. in MY 440</a:t>
              </a:r>
            </a:p>
          </p:txBody>
        </p:sp>
      </p:grpSp>
      <p:grpSp>
        <p:nvGrpSpPr>
          <p:cNvPr id="21" name="Group 21"/>
          <p:cNvGrpSpPr/>
          <p:nvPr/>
        </p:nvGrpSpPr>
        <p:grpSpPr>
          <a:xfrm>
            <a:off x="2540946" y="2935022"/>
            <a:ext cx="6762213" cy="917454"/>
            <a:chOff x="0" y="0"/>
            <a:chExt cx="13524425" cy="1834909"/>
          </a:xfrm>
        </p:grpSpPr>
        <p:sp>
          <p:nvSpPr>
            <p:cNvPr id="22" name="Freeform 22"/>
            <p:cNvSpPr/>
            <p:nvPr/>
          </p:nvSpPr>
          <p:spPr>
            <a:xfrm flipH="1">
              <a:off x="0" y="359517"/>
              <a:ext cx="13524425" cy="1475392"/>
            </a:xfrm>
            <a:custGeom>
              <a:avLst/>
              <a:gdLst/>
              <a:ahLst/>
              <a:cxnLst/>
              <a:rect l="l" t="t" r="r" b="b"/>
              <a:pathLst>
                <a:path w="13524425" h="1475392">
                  <a:moveTo>
                    <a:pt x="13524425" y="0"/>
                  </a:moveTo>
                  <a:lnTo>
                    <a:pt x="0" y="0"/>
                  </a:lnTo>
                  <a:lnTo>
                    <a:pt x="0" y="1475392"/>
                  </a:lnTo>
                  <a:lnTo>
                    <a:pt x="13524425" y="1475392"/>
                  </a:lnTo>
                  <a:lnTo>
                    <a:pt x="1352442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23" name="Freeform 23"/>
            <p:cNvSpPr/>
            <p:nvPr/>
          </p:nvSpPr>
          <p:spPr>
            <a:xfrm>
              <a:off x="0" y="0"/>
              <a:ext cx="13524425" cy="1475392"/>
            </a:xfrm>
            <a:custGeom>
              <a:avLst/>
              <a:gdLst/>
              <a:ahLst/>
              <a:cxnLst/>
              <a:rect l="l" t="t" r="r" b="b"/>
              <a:pathLst>
                <a:path w="13524425" h="1475392">
                  <a:moveTo>
                    <a:pt x="0" y="0"/>
                  </a:moveTo>
                  <a:lnTo>
                    <a:pt x="13524425" y="0"/>
                  </a:lnTo>
                  <a:lnTo>
                    <a:pt x="13524425" y="1475392"/>
                  </a:lnTo>
                  <a:lnTo>
                    <a:pt x="0" y="1475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24" name="TextBox 24"/>
            <p:cNvSpPr txBox="1"/>
            <p:nvPr/>
          </p:nvSpPr>
          <p:spPr>
            <a:xfrm>
              <a:off x="1489520" y="249686"/>
              <a:ext cx="10545385" cy="987195"/>
            </a:xfrm>
            <a:prstGeom prst="rect">
              <a:avLst/>
            </a:prstGeom>
          </p:spPr>
          <p:txBody>
            <a:bodyPr lIns="0" tIns="0" rIns="0" bIns="0" rtlCol="0" anchor="t">
              <a:spAutoFit/>
            </a:bodyPr>
            <a:lstStyle/>
            <a:p>
              <a:pPr algn="ctr">
                <a:lnSpc>
                  <a:spcPts val="4106"/>
                </a:lnSpc>
              </a:pPr>
              <a:r>
                <a:rPr lang="en-US" sz="2933" b="1">
                  <a:solidFill>
                    <a:srgbClr val="FFFFFF"/>
                  </a:solidFill>
                  <a:latin typeface="Trade Gothic LT Std"/>
                  <a:ea typeface="Trade Gothic LT Std"/>
                  <a:cs typeface="Trade Gothic LT Std"/>
                  <a:sym typeface="Trade Gothic LT Std"/>
                </a:rPr>
                <a:t>Mondays 5–7 p.m. in MY 317</a:t>
              </a:r>
            </a:p>
          </p:txBody>
        </p:sp>
      </p:grpSp>
      <p:sp>
        <p:nvSpPr>
          <p:cNvPr id="25" name="Freeform 25"/>
          <p:cNvSpPr/>
          <p:nvPr/>
        </p:nvSpPr>
        <p:spPr>
          <a:xfrm>
            <a:off x="148099" y="3417834"/>
            <a:ext cx="2160417" cy="2387201"/>
          </a:xfrm>
          <a:custGeom>
            <a:avLst/>
            <a:gdLst/>
            <a:ahLst/>
            <a:cxnLst/>
            <a:rect l="l" t="t" r="r" b="b"/>
            <a:pathLst>
              <a:path w="3240626" h="3580802">
                <a:moveTo>
                  <a:pt x="0" y="0"/>
                </a:moveTo>
                <a:lnTo>
                  <a:pt x="3240626" y="0"/>
                </a:lnTo>
                <a:lnTo>
                  <a:pt x="3240626" y="3580802"/>
                </a:lnTo>
                <a:lnTo>
                  <a:pt x="0" y="3580802"/>
                </a:lnTo>
                <a:lnTo>
                  <a:pt x="0" y="0"/>
                </a:lnTo>
                <a:close/>
              </a:path>
            </a:pathLst>
          </a:custGeom>
          <a:blipFill>
            <a:blip r:embed="rId4"/>
            <a:stretch>
              <a:fillRect/>
            </a:stretch>
          </a:blipFill>
        </p:spPr>
        <p:txBody>
          <a:bodyPr/>
          <a:lstStyle/>
          <a:p>
            <a:endParaRPr lang="en-CA"/>
          </a:p>
        </p:txBody>
      </p:sp>
      <p:sp>
        <p:nvSpPr>
          <p:cNvPr id="26" name="Freeform 26"/>
          <p:cNvSpPr/>
          <p:nvPr/>
        </p:nvSpPr>
        <p:spPr>
          <a:xfrm flipH="1">
            <a:off x="9535590" y="3110337"/>
            <a:ext cx="2380157" cy="2189744"/>
          </a:xfrm>
          <a:custGeom>
            <a:avLst/>
            <a:gdLst/>
            <a:ahLst/>
            <a:cxnLst/>
            <a:rect l="l" t="t" r="r" b="b"/>
            <a:pathLst>
              <a:path w="3570235" h="3284616">
                <a:moveTo>
                  <a:pt x="3570234" y="0"/>
                </a:moveTo>
                <a:lnTo>
                  <a:pt x="0" y="0"/>
                </a:lnTo>
                <a:lnTo>
                  <a:pt x="0" y="3284616"/>
                </a:lnTo>
                <a:lnTo>
                  <a:pt x="3570234" y="3284616"/>
                </a:lnTo>
                <a:lnTo>
                  <a:pt x="3570234" y="0"/>
                </a:lnTo>
                <a:close/>
              </a:path>
            </a:pathLst>
          </a:custGeom>
          <a:blipFill>
            <a:blip r:embed="rId5"/>
            <a:stretch>
              <a:fillRect/>
            </a:stretch>
          </a:blipFill>
        </p:spPr>
        <p:txBody>
          <a:bodyPr/>
          <a:lstStyle/>
          <a:p>
            <a:endParaRPr lang="en-CA"/>
          </a:p>
        </p:txBody>
      </p:sp>
      <p:sp>
        <p:nvSpPr>
          <p:cNvPr id="27" name="TextBox 27"/>
          <p:cNvSpPr txBox="1"/>
          <p:nvPr/>
        </p:nvSpPr>
        <p:spPr>
          <a:xfrm>
            <a:off x="1228308" y="289647"/>
            <a:ext cx="9264609" cy="1590179"/>
          </a:xfrm>
          <a:prstGeom prst="rect">
            <a:avLst/>
          </a:prstGeom>
        </p:spPr>
        <p:txBody>
          <a:bodyPr lIns="0" tIns="0" rIns="0" bIns="0" rtlCol="0" anchor="t">
            <a:spAutoFit/>
          </a:bodyPr>
          <a:lstStyle/>
          <a:p>
            <a:pPr algn="ctr">
              <a:lnSpc>
                <a:spcPts val="6206"/>
              </a:lnSpc>
            </a:pPr>
            <a:r>
              <a:rPr lang="en-US" sz="5642" spc="485">
                <a:solidFill>
                  <a:srgbClr val="0F1D25"/>
                </a:solidFill>
                <a:latin typeface="League Spartan"/>
                <a:ea typeface="League Spartan"/>
                <a:cs typeface="League Spartan"/>
                <a:sym typeface="League Spartan"/>
              </a:rPr>
              <a:t>ENGINEERING MATH LEARNING CENTRE</a:t>
            </a:r>
          </a:p>
        </p:txBody>
      </p:sp>
      <p:sp>
        <p:nvSpPr>
          <p:cNvPr id="28" name="TextBox 28"/>
          <p:cNvSpPr txBox="1"/>
          <p:nvPr/>
        </p:nvSpPr>
        <p:spPr>
          <a:xfrm>
            <a:off x="1335076" y="1894439"/>
            <a:ext cx="9157841" cy="795474"/>
          </a:xfrm>
          <a:prstGeom prst="rect">
            <a:avLst/>
          </a:prstGeom>
        </p:spPr>
        <p:txBody>
          <a:bodyPr lIns="0" tIns="0" rIns="0" bIns="0" rtlCol="0" anchor="t">
            <a:spAutoFit/>
          </a:bodyPr>
          <a:lstStyle/>
          <a:p>
            <a:pPr algn="ctr">
              <a:lnSpc>
                <a:spcPts val="3197"/>
              </a:lnSpc>
            </a:pPr>
            <a:r>
              <a:rPr lang="en-US" sz="2284">
                <a:solidFill>
                  <a:srgbClr val="000000"/>
                </a:solidFill>
                <a:latin typeface="Trade Gothic LT Std"/>
                <a:ea typeface="Trade Gothic LT Std"/>
                <a:cs typeface="Trade Gothic LT Std"/>
                <a:sym typeface="Trade Gothic LT Std"/>
              </a:rPr>
              <a:t>A designated space for math studying and office hours for first-year engineering students, staffed by instructors and teaching assistants!</a:t>
            </a:r>
            <a:r>
              <a:rPr lang="en-US" sz="2284" b="1">
                <a:solidFill>
                  <a:srgbClr val="000000"/>
                </a:solidFill>
                <a:latin typeface="Trade Gothic LT Std"/>
                <a:ea typeface="Trade Gothic LT Std"/>
                <a:cs typeface="Trade Gothic LT Std"/>
                <a:sym typeface="Trade Gothic LT Std"/>
              </a:rPr>
              <a:t> </a:t>
            </a:r>
          </a:p>
        </p:txBody>
      </p:sp>
    </p:spTree>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B442-F65C-C12E-08B4-AF3222901B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428D836-10DA-FE4E-791B-5897894C6320}"/>
              </a:ext>
            </a:extLst>
          </p:cNvPr>
          <p:cNvGrpSpPr/>
          <p:nvPr/>
        </p:nvGrpSpPr>
        <p:grpSpPr>
          <a:xfrm>
            <a:off x="-488302" y="361071"/>
            <a:ext cx="13322796" cy="6215346"/>
            <a:chOff x="0" y="0"/>
            <a:chExt cx="26645592" cy="12430692"/>
          </a:xfrm>
        </p:grpSpPr>
        <p:sp>
          <p:nvSpPr>
            <p:cNvPr id="3" name="AutoShape 3">
              <a:extLst>
                <a:ext uri="{FF2B5EF4-FFF2-40B4-BE49-F238E27FC236}">
                  <a16:creationId xmlns:a16="http://schemas.microsoft.com/office/drawing/2014/main" id="{810A03B1-9B9A-6FA2-9C1C-7E50C4863582}"/>
                </a:ext>
              </a:extLst>
            </p:cNvPr>
            <p:cNvSpPr/>
            <p:nvPr/>
          </p:nvSpPr>
          <p:spPr>
            <a:xfrm flipV="1">
              <a:off x="30" y="31750"/>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4" name="AutoShape 4">
              <a:extLst>
                <a:ext uri="{FF2B5EF4-FFF2-40B4-BE49-F238E27FC236}">
                  <a16:creationId xmlns:a16="http://schemas.microsoft.com/office/drawing/2014/main" id="{871A8C9E-8AFC-3FBC-CE21-AAEE0D2B20E1}"/>
                </a:ext>
              </a:extLst>
            </p:cNvPr>
            <p:cNvSpPr/>
            <p:nvPr/>
          </p:nvSpPr>
          <p:spPr>
            <a:xfrm flipV="1">
              <a:off x="30" y="1403060"/>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5" name="AutoShape 5">
              <a:extLst>
                <a:ext uri="{FF2B5EF4-FFF2-40B4-BE49-F238E27FC236}">
                  <a16:creationId xmlns:a16="http://schemas.microsoft.com/office/drawing/2014/main" id="{99CCD396-9126-96DC-F000-C6AB0891CD8B}"/>
                </a:ext>
              </a:extLst>
            </p:cNvPr>
            <p:cNvSpPr/>
            <p:nvPr/>
          </p:nvSpPr>
          <p:spPr>
            <a:xfrm flipV="1">
              <a:off x="30" y="2774370"/>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6" name="AutoShape 6">
              <a:extLst>
                <a:ext uri="{FF2B5EF4-FFF2-40B4-BE49-F238E27FC236}">
                  <a16:creationId xmlns:a16="http://schemas.microsoft.com/office/drawing/2014/main" id="{FCD330AA-918A-FC88-FBBE-F46DF2F53F03}"/>
                </a:ext>
              </a:extLst>
            </p:cNvPr>
            <p:cNvSpPr/>
            <p:nvPr/>
          </p:nvSpPr>
          <p:spPr>
            <a:xfrm flipV="1">
              <a:off x="30" y="414568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7" name="AutoShape 7">
              <a:extLst>
                <a:ext uri="{FF2B5EF4-FFF2-40B4-BE49-F238E27FC236}">
                  <a16:creationId xmlns:a16="http://schemas.microsoft.com/office/drawing/2014/main" id="{70348B52-261D-2E98-8F6B-585D2B2C9462}"/>
                </a:ext>
              </a:extLst>
            </p:cNvPr>
            <p:cNvSpPr/>
            <p:nvPr/>
          </p:nvSpPr>
          <p:spPr>
            <a:xfrm flipV="1">
              <a:off x="30" y="551699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8" name="AutoShape 8">
              <a:extLst>
                <a:ext uri="{FF2B5EF4-FFF2-40B4-BE49-F238E27FC236}">
                  <a16:creationId xmlns:a16="http://schemas.microsoft.com/office/drawing/2014/main" id="{BE36B2D6-8728-8617-7BBC-E9A0952612F8}"/>
                </a:ext>
              </a:extLst>
            </p:cNvPr>
            <p:cNvSpPr/>
            <p:nvPr/>
          </p:nvSpPr>
          <p:spPr>
            <a:xfrm flipV="1">
              <a:off x="30" y="688830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9" name="AutoShape 9">
              <a:extLst>
                <a:ext uri="{FF2B5EF4-FFF2-40B4-BE49-F238E27FC236}">
                  <a16:creationId xmlns:a16="http://schemas.microsoft.com/office/drawing/2014/main" id="{2DFB2D76-A266-DF8C-0A25-535E6A4F4A6D}"/>
                </a:ext>
              </a:extLst>
            </p:cNvPr>
            <p:cNvSpPr/>
            <p:nvPr/>
          </p:nvSpPr>
          <p:spPr>
            <a:xfrm flipV="1">
              <a:off x="30" y="8259611"/>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10" name="AutoShape 10">
              <a:extLst>
                <a:ext uri="{FF2B5EF4-FFF2-40B4-BE49-F238E27FC236}">
                  <a16:creationId xmlns:a16="http://schemas.microsoft.com/office/drawing/2014/main" id="{71979220-8C8A-28EA-A305-9830788F2B2D}"/>
                </a:ext>
              </a:extLst>
            </p:cNvPr>
            <p:cNvSpPr/>
            <p:nvPr/>
          </p:nvSpPr>
          <p:spPr>
            <a:xfrm flipV="1">
              <a:off x="30" y="9630922"/>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11" name="AutoShape 11">
              <a:extLst>
                <a:ext uri="{FF2B5EF4-FFF2-40B4-BE49-F238E27FC236}">
                  <a16:creationId xmlns:a16="http://schemas.microsoft.com/office/drawing/2014/main" id="{9107F19F-6014-D0C4-F8C8-68CE99998DDA}"/>
                </a:ext>
              </a:extLst>
            </p:cNvPr>
            <p:cNvSpPr/>
            <p:nvPr/>
          </p:nvSpPr>
          <p:spPr>
            <a:xfrm flipV="1">
              <a:off x="30" y="11002232"/>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sp>
          <p:nvSpPr>
            <p:cNvPr id="12" name="AutoShape 12">
              <a:extLst>
                <a:ext uri="{FF2B5EF4-FFF2-40B4-BE49-F238E27FC236}">
                  <a16:creationId xmlns:a16="http://schemas.microsoft.com/office/drawing/2014/main" id="{1D002CC5-9490-E128-F686-FE34CCA0E857}"/>
                </a:ext>
              </a:extLst>
            </p:cNvPr>
            <p:cNvSpPr/>
            <p:nvPr/>
          </p:nvSpPr>
          <p:spPr>
            <a:xfrm flipV="1">
              <a:off x="30" y="12373542"/>
              <a:ext cx="26645532" cy="25400"/>
            </a:xfrm>
            <a:prstGeom prst="line">
              <a:avLst/>
            </a:prstGeom>
            <a:ln w="63500" cap="flat">
              <a:solidFill>
                <a:srgbClr val="99DCFF">
                  <a:alpha val="33725"/>
                </a:srgbClr>
              </a:solidFill>
              <a:prstDash val="solid"/>
              <a:headEnd type="none" w="sm" len="sm"/>
              <a:tailEnd type="none" w="sm" len="sm"/>
            </a:ln>
          </p:spPr>
          <p:txBody>
            <a:bodyPr/>
            <a:lstStyle/>
            <a:p>
              <a:endParaRPr lang="en-CA"/>
            </a:p>
          </p:txBody>
        </p:sp>
      </p:grpSp>
      <p:grpSp>
        <p:nvGrpSpPr>
          <p:cNvPr id="13" name="Group 13">
            <a:extLst>
              <a:ext uri="{FF2B5EF4-FFF2-40B4-BE49-F238E27FC236}">
                <a16:creationId xmlns:a16="http://schemas.microsoft.com/office/drawing/2014/main" id="{800E9AF3-69D6-5D3F-7FC9-1C10F734E77D}"/>
              </a:ext>
            </a:extLst>
          </p:cNvPr>
          <p:cNvGrpSpPr/>
          <p:nvPr/>
        </p:nvGrpSpPr>
        <p:grpSpPr>
          <a:xfrm>
            <a:off x="2540946" y="5346309"/>
            <a:ext cx="6762213" cy="917455"/>
            <a:chOff x="0" y="0"/>
            <a:chExt cx="13524425" cy="1834909"/>
          </a:xfrm>
        </p:grpSpPr>
        <p:sp>
          <p:nvSpPr>
            <p:cNvPr id="14" name="Freeform 14">
              <a:extLst>
                <a:ext uri="{FF2B5EF4-FFF2-40B4-BE49-F238E27FC236}">
                  <a16:creationId xmlns:a16="http://schemas.microsoft.com/office/drawing/2014/main" id="{36CD0CA8-D6B5-1F61-9C4B-86DBA839575C}"/>
                </a:ext>
              </a:extLst>
            </p:cNvPr>
            <p:cNvSpPr/>
            <p:nvPr/>
          </p:nvSpPr>
          <p:spPr>
            <a:xfrm flipH="1">
              <a:off x="0" y="359517"/>
              <a:ext cx="13524425" cy="1475392"/>
            </a:xfrm>
            <a:custGeom>
              <a:avLst/>
              <a:gdLst/>
              <a:ahLst/>
              <a:cxnLst/>
              <a:rect l="l" t="t" r="r" b="b"/>
              <a:pathLst>
                <a:path w="13524425" h="1475392">
                  <a:moveTo>
                    <a:pt x="13524425" y="0"/>
                  </a:moveTo>
                  <a:lnTo>
                    <a:pt x="0" y="0"/>
                  </a:lnTo>
                  <a:lnTo>
                    <a:pt x="0" y="1475392"/>
                  </a:lnTo>
                  <a:lnTo>
                    <a:pt x="13524425" y="1475392"/>
                  </a:lnTo>
                  <a:lnTo>
                    <a:pt x="1352442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5" name="Freeform 15">
              <a:extLst>
                <a:ext uri="{FF2B5EF4-FFF2-40B4-BE49-F238E27FC236}">
                  <a16:creationId xmlns:a16="http://schemas.microsoft.com/office/drawing/2014/main" id="{B6D00673-4BC7-797A-991A-3DB031675803}"/>
                </a:ext>
              </a:extLst>
            </p:cNvPr>
            <p:cNvSpPr/>
            <p:nvPr/>
          </p:nvSpPr>
          <p:spPr>
            <a:xfrm>
              <a:off x="0" y="0"/>
              <a:ext cx="13524425" cy="1475392"/>
            </a:xfrm>
            <a:custGeom>
              <a:avLst/>
              <a:gdLst/>
              <a:ahLst/>
              <a:cxnLst/>
              <a:rect l="l" t="t" r="r" b="b"/>
              <a:pathLst>
                <a:path w="13524425" h="1475392">
                  <a:moveTo>
                    <a:pt x="0" y="0"/>
                  </a:moveTo>
                  <a:lnTo>
                    <a:pt x="13524425" y="0"/>
                  </a:lnTo>
                  <a:lnTo>
                    <a:pt x="13524425" y="1475392"/>
                  </a:lnTo>
                  <a:lnTo>
                    <a:pt x="0" y="1475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6" name="TextBox 16">
              <a:extLst>
                <a:ext uri="{FF2B5EF4-FFF2-40B4-BE49-F238E27FC236}">
                  <a16:creationId xmlns:a16="http://schemas.microsoft.com/office/drawing/2014/main" id="{753A2FE9-3C62-08AB-710C-F21C9ED9FF2C}"/>
                </a:ext>
              </a:extLst>
            </p:cNvPr>
            <p:cNvSpPr txBox="1"/>
            <p:nvPr/>
          </p:nvSpPr>
          <p:spPr>
            <a:xfrm>
              <a:off x="870832" y="188066"/>
              <a:ext cx="11782763" cy="987195"/>
            </a:xfrm>
            <a:prstGeom prst="rect">
              <a:avLst/>
            </a:prstGeom>
          </p:spPr>
          <p:txBody>
            <a:bodyPr lIns="0" tIns="0" rIns="0" bIns="0" rtlCol="0" anchor="t">
              <a:spAutoFit/>
            </a:bodyPr>
            <a:lstStyle/>
            <a:p>
              <a:pPr algn="ctr" defTabSz="609630">
                <a:lnSpc>
                  <a:spcPts val="4106"/>
                </a:lnSpc>
              </a:pPr>
              <a:r>
                <a:rPr lang="en-US" sz="2933">
                  <a:solidFill>
                    <a:srgbClr val="FFFFFF"/>
                  </a:solidFill>
                  <a:latin typeface="Trade Gothic LT Std"/>
                  <a:ea typeface="Trade Gothic LT Std"/>
                  <a:cs typeface="Trade Gothic LT Std"/>
                  <a:sym typeface="Trade Gothic LT Std"/>
                </a:rPr>
                <a:t>Wednesdays 5–7 p.m. in MY 317</a:t>
              </a:r>
            </a:p>
          </p:txBody>
        </p:sp>
      </p:grpSp>
      <p:grpSp>
        <p:nvGrpSpPr>
          <p:cNvPr id="17" name="Group 17">
            <a:extLst>
              <a:ext uri="{FF2B5EF4-FFF2-40B4-BE49-F238E27FC236}">
                <a16:creationId xmlns:a16="http://schemas.microsoft.com/office/drawing/2014/main" id="{49995040-155E-CB97-0AC2-41404940C441}"/>
              </a:ext>
            </a:extLst>
          </p:cNvPr>
          <p:cNvGrpSpPr/>
          <p:nvPr/>
        </p:nvGrpSpPr>
        <p:grpSpPr>
          <a:xfrm>
            <a:off x="2540946" y="4062027"/>
            <a:ext cx="6762213" cy="917455"/>
            <a:chOff x="0" y="0"/>
            <a:chExt cx="13524425" cy="1834909"/>
          </a:xfrm>
        </p:grpSpPr>
        <p:sp>
          <p:nvSpPr>
            <p:cNvPr id="18" name="Freeform 18">
              <a:extLst>
                <a:ext uri="{FF2B5EF4-FFF2-40B4-BE49-F238E27FC236}">
                  <a16:creationId xmlns:a16="http://schemas.microsoft.com/office/drawing/2014/main" id="{971A1BFD-6CD6-0E42-6E2C-A3AA6F15CA09}"/>
                </a:ext>
              </a:extLst>
            </p:cNvPr>
            <p:cNvSpPr/>
            <p:nvPr/>
          </p:nvSpPr>
          <p:spPr>
            <a:xfrm flipH="1">
              <a:off x="0" y="359517"/>
              <a:ext cx="13524425" cy="1475392"/>
            </a:xfrm>
            <a:custGeom>
              <a:avLst/>
              <a:gdLst/>
              <a:ahLst/>
              <a:cxnLst/>
              <a:rect l="l" t="t" r="r" b="b"/>
              <a:pathLst>
                <a:path w="13524425" h="1475392">
                  <a:moveTo>
                    <a:pt x="13524425" y="0"/>
                  </a:moveTo>
                  <a:lnTo>
                    <a:pt x="0" y="0"/>
                  </a:lnTo>
                  <a:lnTo>
                    <a:pt x="0" y="1475392"/>
                  </a:lnTo>
                  <a:lnTo>
                    <a:pt x="13524425" y="1475392"/>
                  </a:lnTo>
                  <a:lnTo>
                    <a:pt x="1352442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19" name="Freeform 19">
              <a:extLst>
                <a:ext uri="{FF2B5EF4-FFF2-40B4-BE49-F238E27FC236}">
                  <a16:creationId xmlns:a16="http://schemas.microsoft.com/office/drawing/2014/main" id="{1DE6A5A4-2A6A-113E-A6B8-8CE215AA4615}"/>
                </a:ext>
              </a:extLst>
            </p:cNvPr>
            <p:cNvSpPr/>
            <p:nvPr/>
          </p:nvSpPr>
          <p:spPr>
            <a:xfrm>
              <a:off x="0" y="0"/>
              <a:ext cx="13524425" cy="1475392"/>
            </a:xfrm>
            <a:custGeom>
              <a:avLst/>
              <a:gdLst/>
              <a:ahLst/>
              <a:cxnLst/>
              <a:rect l="l" t="t" r="r" b="b"/>
              <a:pathLst>
                <a:path w="13524425" h="1475392">
                  <a:moveTo>
                    <a:pt x="0" y="0"/>
                  </a:moveTo>
                  <a:lnTo>
                    <a:pt x="13524425" y="0"/>
                  </a:lnTo>
                  <a:lnTo>
                    <a:pt x="13524425" y="1475392"/>
                  </a:lnTo>
                  <a:lnTo>
                    <a:pt x="0" y="1475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20" name="TextBox 20">
              <a:extLst>
                <a:ext uri="{FF2B5EF4-FFF2-40B4-BE49-F238E27FC236}">
                  <a16:creationId xmlns:a16="http://schemas.microsoft.com/office/drawing/2014/main" id="{6333505C-4B61-0D99-3997-666B4108F09B}"/>
                </a:ext>
              </a:extLst>
            </p:cNvPr>
            <p:cNvSpPr txBox="1"/>
            <p:nvPr/>
          </p:nvSpPr>
          <p:spPr>
            <a:xfrm>
              <a:off x="1489520" y="249686"/>
              <a:ext cx="10545385" cy="987195"/>
            </a:xfrm>
            <a:prstGeom prst="rect">
              <a:avLst/>
            </a:prstGeom>
          </p:spPr>
          <p:txBody>
            <a:bodyPr lIns="0" tIns="0" rIns="0" bIns="0" rtlCol="0" anchor="t">
              <a:spAutoFit/>
            </a:bodyPr>
            <a:lstStyle/>
            <a:p>
              <a:pPr algn="ctr" defTabSz="609630">
                <a:lnSpc>
                  <a:spcPts val="4106"/>
                </a:lnSpc>
              </a:pPr>
              <a:r>
                <a:rPr lang="en-US" sz="2933">
                  <a:solidFill>
                    <a:srgbClr val="FFFFFF"/>
                  </a:solidFill>
                  <a:latin typeface="Trade Gothic LT Std"/>
                  <a:ea typeface="Trade Gothic LT Std"/>
                  <a:cs typeface="Trade Gothic LT Std"/>
                  <a:sym typeface="Trade Gothic LT Std"/>
                </a:rPr>
                <a:t>Tuesdays 5–7 p.m. in MY 440</a:t>
              </a:r>
            </a:p>
          </p:txBody>
        </p:sp>
      </p:grpSp>
      <p:grpSp>
        <p:nvGrpSpPr>
          <p:cNvPr id="21" name="Group 21">
            <a:extLst>
              <a:ext uri="{FF2B5EF4-FFF2-40B4-BE49-F238E27FC236}">
                <a16:creationId xmlns:a16="http://schemas.microsoft.com/office/drawing/2014/main" id="{C70291B0-2BF3-31DF-E2B1-414066FE3DF5}"/>
              </a:ext>
            </a:extLst>
          </p:cNvPr>
          <p:cNvGrpSpPr/>
          <p:nvPr/>
        </p:nvGrpSpPr>
        <p:grpSpPr>
          <a:xfrm>
            <a:off x="2540946" y="2935023"/>
            <a:ext cx="6762213" cy="917455"/>
            <a:chOff x="0" y="0"/>
            <a:chExt cx="13524425" cy="1834909"/>
          </a:xfrm>
        </p:grpSpPr>
        <p:sp>
          <p:nvSpPr>
            <p:cNvPr id="22" name="Freeform 22">
              <a:extLst>
                <a:ext uri="{FF2B5EF4-FFF2-40B4-BE49-F238E27FC236}">
                  <a16:creationId xmlns:a16="http://schemas.microsoft.com/office/drawing/2014/main" id="{05E88A38-C3CA-D2EC-223B-9B71150915F7}"/>
                </a:ext>
              </a:extLst>
            </p:cNvPr>
            <p:cNvSpPr/>
            <p:nvPr/>
          </p:nvSpPr>
          <p:spPr>
            <a:xfrm flipH="1">
              <a:off x="0" y="359517"/>
              <a:ext cx="13524425" cy="1475392"/>
            </a:xfrm>
            <a:custGeom>
              <a:avLst/>
              <a:gdLst/>
              <a:ahLst/>
              <a:cxnLst/>
              <a:rect l="l" t="t" r="r" b="b"/>
              <a:pathLst>
                <a:path w="13524425" h="1475392">
                  <a:moveTo>
                    <a:pt x="13524425" y="0"/>
                  </a:moveTo>
                  <a:lnTo>
                    <a:pt x="0" y="0"/>
                  </a:lnTo>
                  <a:lnTo>
                    <a:pt x="0" y="1475392"/>
                  </a:lnTo>
                  <a:lnTo>
                    <a:pt x="13524425" y="1475392"/>
                  </a:lnTo>
                  <a:lnTo>
                    <a:pt x="1352442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23" name="Freeform 23">
              <a:extLst>
                <a:ext uri="{FF2B5EF4-FFF2-40B4-BE49-F238E27FC236}">
                  <a16:creationId xmlns:a16="http://schemas.microsoft.com/office/drawing/2014/main" id="{5EC92DEE-0564-C6F3-8955-F4A97810548E}"/>
                </a:ext>
              </a:extLst>
            </p:cNvPr>
            <p:cNvSpPr/>
            <p:nvPr/>
          </p:nvSpPr>
          <p:spPr>
            <a:xfrm>
              <a:off x="0" y="0"/>
              <a:ext cx="13524425" cy="1475392"/>
            </a:xfrm>
            <a:custGeom>
              <a:avLst/>
              <a:gdLst/>
              <a:ahLst/>
              <a:cxnLst/>
              <a:rect l="l" t="t" r="r" b="b"/>
              <a:pathLst>
                <a:path w="13524425" h="1475392">
                  <a:moveTo>
                    <a:pt x="0" y="0"/>
                  </a:moveTo>
                  <a:lnTo>
                    <a:pt x="13524425" y="0"/>
                  </a:lnTo>
                  <a:lnTo>
                    <a:pt x="13524425" y="1475392"/>
                  </a:lnTo>
                  <a:lnTo>
                    <a:pt x="0" y="1475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24" name="TextBox 24">
              <a:extLst>
                <a:ext uri="{FF2B5EF4-FFF2-40B4-BE49-F238E27FC236}">
                  <a16:creationId xmlns:a16="http://schemas.microsoft.com/office/drawing/2014/main" id="{C9E40A17-CB58-4957-E6B1-E975C86530D0}"/>
                </a:ext>
              </a:extLst>
            </p:cNvPr>
            <p:cNvSpPr txBox="1"/>
            <p:nvPr/>
          </p:nvSpPr>
          <p:spPr>
            <a:xfrm>
              <a:off x="1489520" y="249686"/>
              <a:ext cx="10545385" cy="987195"/>
            </a:xfrm>
            <a:prstGeom prst="rect">
              <a:avLst/>
            </a:prstGeom>
          </p:spPr>
          <p:txBody>
            <a:bodyPr lIns="0" tIns="0" rIns="0" bIns="0" rtlCol="0" anchor="t">
              <a:spAutoFit/>
            </a:bodyPr>
            <a:lstStyle/>
            <a:p>
              <a:pPr algn="ctr" defTabSz="609630">
                <a:lnSpc>
                  <a:spcPts val="4106"/>
                </a:lnSpc>
              </a:pPr>
              <a:r>
                <a:rPr lang="en-US" sz="2933" b="1">
                  <a:solidFill>
                    <a:srgbClr val="FFFFFF"/>
                  </a:solidFill>
                  <a:latin typeface="Trade Gothic LT Std"/>
                  <a:ea typeface="Trade Gothic LT Std"/>
                  <a:cs typeface="Trade Gothic LT Std"/>
                  <a:sym typeface="Trade Gothic LT Std"/>
                </a:rPr>
                <a:t>Mondays 5–7 p.m. in MY 317</a:t>
              </a:r>
            </a:p>
          </p:txBody>
        </p:sp>
      </p:grpSp>
      <p:sp>
        <p:nvSpPr>
          <p:cNvPr id="25" name="Freeform 25">
            <a:extLst>
              <a:ext uri="{FF2B5EF4-FFF2-40B4-BE49-F238E27FC236}">
                <a16:creationId xmlns:a16="http://schemas.microsoft.com/office/drawing/2014/main" id="{67D6CE4B-98F5-C6A1-4567-64903D6A9145}"/>
              </a:ext>
            </a:extLst>
          </p:cNvPr>
          <p:cNvSpPr/>
          <p:nvPr/>
        </p:nvSpPr>
        <p:spPr>
          <a:xfrm>
            <a:off x="148099" y="3417834"/>
            <a:ext cx="2160417" cy="2387201"/>
          </a:xfrm>
          <a:custGeom>
            <a:avLst/>
            <a:gdLst/>
            <a:ahLst/>
            <a:cxnLst/>
            <a:rect l="l" t="t" r="r" b="b"/>
            <a:pathLst>
              <a:path w="3240626" h="3580802">
                <a:moveTo>
                  <a:pt x="0" y="0"/>
                </a:moveTo>
                <a:lnTo>
                  <a:pt x="3240626" y="0"/>
                </a:lnTo>
                <a:lnTo>
                  <a:pt x="3240626" y="3580802"/>
                </a:lnTo>
                <a:lnTo>
                  <a:pt x="0" y="3580802"/>
                </a:lnTo>
                <a:lnTo>
                  <a:pt x="0" y="0"/>
                </a:lnTo>
                <a:close/>
              </a:path>
            </a:pathLst>
          </a:custGeom>
          <a:blipFill>
            <a:blip r:embed="rId4"/>
            <a:stretch>
              <a:fillRect/>
            </a:stretch>
          </a:blipFill>
        </p:spPr>
        <p:txBody>
          <a:bodyPr/>
          <a:lstStyle/>
          <a:p>
            <a:endParaRPr lang="en-CA"/>
          </a:p>
        </p:txBody>
      </p:sp>
      <p:sp>
        <p:nvSpPr>
          <p:cNvPr id="26" name="Freeform 26">
            <a:extLst>
              <a:ext uri="{FF2B5EF4-FFF2-40B4-BE49-F238E27FC236}">
                <a16:creationId xmlns:a16="http://schemas.microsoft.com/office/drawing/2014/main" id="{14DBB652-FBC2-ACDD-3870-30B5BE9E796D}"/>
              </a:ext>
            </a:extLst>
          </p:cNvPr>
          <p:cNvSpPr/>
          <p:nvPr/>
        </p:nvSpPr>
        <p:spPr>
          <a:xfrm flipH="1">
            <a:off x="9535590" y="3110337"/>
            <a:ext cx="2380157" cy="2189744"/>
          </a:xfrm>
          <a:custGeom>
            <a:avLst/>
            <a:gdLst/>
            <a:ahLst/>
            <a:cxnLst/>
            <a:rect l="l" t="t" r="r" b="b"/>
            <a:pathLst>
              <a:path w="3570235" h="3284616">
                <a:moveTo>
                  <a:pt x="3570234" y="0"/>
                </a:moveTo>
                <a:lnTo>
                  <a:pt x="0" y="0"/>
                </a:lnTo>
                <a:lnTo>
                  <a:pt x="0" y="3284616"/>
                </a:lnTo>
                <a:lnTo>
                  <a:pt x="3570234" y="3284616"/>
                </a:lnTo>
                <a:lnTo>
                  <a:pt x="3570234" y="0"/>
                </a:lnTo>
                <a:close/>
              </a:path>
            </a:pathLst>
          </a:custGeom>
          <a:blipFill>
            <a:blip r:embed="rId5"/>
            <a:stretch>
              <a:fillRect/>
            </a:stretch>
          </a:blipFill>
        </p:spPr>
        <p:txBody>
          <a:bodyPr/>
          <a:lstStyle/>
          <a:p>
            <a:endParaRPr lang="en-CA"/>
          </a:p>
        </p:txBody>
      </p:sp>
      <p:sp>
        <p:nvSpPr>
          <p:cNvPr id="27" name="TextBox 27">
            <a:extLst>
              <a:ext uri="{FF2B5EF4-FFF2-40B4-BE49-F238E27FC236}">
                <a16:creationId xmlns:a16="http://schemas.microsoft.com/office/drawing/2014/main" id="{F82906D6-F6CE-E273-26F0-BB27BCE5ED34}"/>
              </a:ext>
            </a:extLst>
          </p:cNvPr>
          <p:cNvSpPr txBox="1"/>
          <p:nvPr/>
        </p:nvSpPr>
        <p:spPr>
          <a:xfrm>
            <a:off x="1228308" y="289647"/>
            <a:ext cx="9264609" cy="1590179"/>
          </a:xfrm>
          <a:prstGeom prst="rect">
            <a:avLst/>
          </a:prstGeom>
        </p:spPr>
        <p:txBody>
          <a:bodyPr lIns="0" tIns="0" rIns="0" bIns="0" rtlCol="0" anchor="t">
            <a:spAutoFit/>
          </a:bodyPr>
          <a:lstStyle/>
          <a:p>
            <a:pPr algn="ctr" defTabSz="609630">
              <a:lnSpc>
                <a:spcPts val="6206"/>
              </a:lnSpc>
            </a:pPr>
            <a:r>
              <a:rPr lang="en-US" sz="5642" spc="485">
                <a:solidFill>
                  <a:srgbClr val="0F1D25"/>
                </a:solidFill>
                <a:latin typeface="League Spartan"/>
                <a:ea typeface="League Spartan"/>
                <a:cs typeface="League Spartan"/>
                <a:sym typeface="League Spartan"/>
              </a:rPr>
              <a:t>ENGINEERING MATH LEARNING CENTRE</a:t>
            </a:r>
          </a:p>
        </p:txBody>
      </p:sp>
      <p:sp>
        <p:nvSpPr>
          <p:cNvPr id="28" name="TextBox 28">
            <a:extLst>
              <a:ext uri="{FF2B5EF4-FFF2-40B4-BE49-F238E27FC236}">
                <a16:creationId xmlns:a16="http://schemas.microsoft.com/office/drawing/2014/main" id="{DECCBCAF-A9F8-A3F3-F39D-A63D86CBC522}"/>
              </a:ext>
            </a:extLst>
          </p:cNvPr>
          <p:cNvSpPr txBox="1"/>
          <p:nvPr/>
        </p:nvSpPr>
        <p:spPr>
          <a:xfrm>
            <a:off x="1335076" y="1894439"/>
            <a:ext cx="9157841" cy="795474"/>
          </a:xfrm>
          <a:prstGeom prst="rect">
            <a:avLst/>
          </a:prstGeom>
        </p:spPr>
        <p:txBody>
          <a:bodyPr lIns="0" tIns="0" rIns="0" bIns="0" rtlCol="0" anchor="t">
            <a:spAutoFit/>
          </a:bodyPr>
          <a:lstStyle/>
          <a:p>
            <a:pPr algn="ctr" defTabSz="609630">
              <a:lnSpc>
                <a:spcPts val="3197"/>
              </a:lnSpc>
            </a:pPr>
            <a:r>
              <a:rPr lang="en-US" sz="2284">
                <a:solidFill>
                  <a:srgbClr val="000000"/>
                </a:solidFill>
                <a:latin typeface="Trade Gothic LT Std"/>
                <a:ea typeface="Trade Gothic LT Std"/>
                <a:cs typeface="Trade Gothic LT Std"/>
                <a:sym typeface="Trade Gothic LT Std"/>
              </a:rPr>
              <a:t>A designated space for math studying and office hours for first-year engineering students, staffed by instructors and teaching assistants!</a:t>
            </a:r>
            <a:r>
              <a:rPr lang="en-US" sz="2284" b="1">
                <a:solidFill>
                  <a:srgbClr val="000000"/>
                </a:solidFill>
                <a:latin typeface="Trade Gothic LT Std"/>
                <a:ea typeface="Trade Gothic LT Std"/>
                <a:cs typeface="Trade Gothic LT Std"/>
                <a:sym typeface="Trade Gothic LT Std"/>
              </a:rPr>
              <a:t> </a:t>
            </a:r>
          </a:p>
        </p:txBody>
      </p:sp>
      <p:pic>
        <p:nvPicPr>
          <p:cNvPr id="29" name="Picture 28">
            <a:extLst>
              <a:ext uri="{FF2B5EF4-FFF2-40B4-BE49-F238E27FC236}">
                <a16:creationId xmlns:a16="http://schemas.microsoft.com/office/drawing/2014/main" id="{3BD345D9-AD53-5B63-596A-50C0BCE65473}"/>
              </a:ext>
            </a:extLst>
          </p:cNvPr>
          <p:cNvPicPr>
            <a:picLocks noChangeAspect="1"/>
          </p:cNvPicPr>
          <p:nvPr/>
        </p:nvPicPr>
        <p:blipFill>
          <a:blip r:embed="rId6"/>
          <a:stretch>
            <a:fillRect/>
          </a:stretch>
        </p:blipFill>
        <p:spPr>
          <a:xfrm>
            <a:off x="513" y="0"/>
            <a:ext cx="12190973" cy="6858000"/>
          </a:xfrm>
          <a:prstGeom prst="rect">
            <a:avLst/>
          </a:prstGeom>
        </p:spPr>
      </p:pic>
    </p:spTree>
    <p:extLst>
      <p:ext uri="{BB962C8B-B14F-4D97-AF65-F5344CB8AC3E}">
        <p14:creationId xmlns:p14="http://schemas.microsoft.com/office/powerpoint/2010/main" val="4234984410"/>
      </p:ext>
    </p:extLst>
  </p:cSld>
  <p:clrMapOvr>
    <a:masterClrMapping/>
  </p:clrMapOvr>
  <mc:AlternateContent xmlns:mc="http://schemas.openxmlformats.org/markup-compatibility/2006" xmlns:p14="http://schemas.microsoft.com/office/powerpoint/2010/main">
    <mc:Choice Requires="p14">
      <p:transition p14:dur="250" advClick="0" advTm="9000"/>
    </mc:Choice>
    <mc:Fallback xmlns="">
      <p:transition advClick="0" advTm="9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5D9C17-D6EA-46D1-EC06-55840EB318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63701077"/>
      </p:ext>
    </p:extLst>
  </p:cSld>
  <p:clrMapOvr>
    <a:masterClrMapping/>
  </p:clrMapOvr>
  <mc:AlternateContent xmlns:mc="http://schemas.openxmlformats.org/markup-compatibility/2006" xmlns:p14="http://schemas.microsoft.com/office/powerpoint/2010/main">
    <mc:Choice Requires="p14">
      <p:transition p14:dur="250" advClick="0" advTm="12000"/>
    </mc:Choice>
    <mc:Fallback xmlns="">
      <p:transition advClick="0" advTm="1200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86A1722-ED93-4182-9E2C-1E242901AE96}">
  <we:reference id="e6890d58-51ce-4572-9272-a9ab2dd6f31e" version="1.1.0.0" store="EXCatalog" storeType="EXCatalog"/>
  <we:alternateReferences>
    <we:reference id="WA200002334" version="1.1.0.0" store="en-CA"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019596b-07bb-4fe5-8e66-74a257598ac6" xsi:nil="true"/>
    <lcf76f155ced4ddcb4097134ff3c332f xmlns="ffb7da5c-17e6-424c-ac0d-2075003745a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3745AF06AD277448C00178C5E687B57" ma:contentTypeVersion="16" ma:contentTypeDescription="Create a new document." ma:contentTypeScope="" ma:versionID="2d6d2d35a41215595bebc279e5444130">
  <xsd:schema xmlns:xsd="http://www.w3.org/2001/XMLSchema" xmlns:xs="http://www.w3.org/2001/XMLSchema" xmlns:p="http://schemas.microsoft.com/office/2006/metadata/properties" xmlns:ns2="ffb7da5c-17e6-424c-ac0d-2075003745a6" xmlns:ns3="a019596b-07bb-4fe5-8e66-74a257598ac6" targetNamespace="http://schemas.microsoft.com/office/2006/metadata/properties" ma:root="true" ma:fieldsID="7c43f05f444bae1d1f6a753258dbc83e" ns2:_="" ns3:_="">
    <xsd:import namespace="ffb7da5c-17e6-424c-ac0d-2075003745a6"/>
    <xsd:import namespace="a019596b-07bb-4fe5-8e66-74a257598ac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b7da5c-17e6-424c-ac0d-2075003745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fe164b29-4069-4387-b6aa-f01f2a1f4743"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19596b-07bb-4fe5-8e66-74a257598ac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109f760f-5202-4a42-920e-3b51c0c242b3}" ma:internalName="TaxCatchAll" ma:showField="CatchAllData" ma:web="a019596b-07bb-4fe5-8e66-74a257598ac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BA3AE1-604C-4B1D-A58E-676302ED2648}">
  <ds:schemaRefs>
    <ds:schemaRef ds:uri="http://schemas.microsoft.com/sharepoint/v3/contenttype/forms"/>
  </ds:schemaRefs>
</ds:datastoreItem>
</file>

<file path=customXml/itemProps2.xml><?xml version="1.0" encoding="utf-8"?>
<ds:datastoreItem xmlns:ds="http://schemas.openxmlformats.org/officeDocument/2006/customXml" ds:itemID="{B3007433-C2B4-4244-830D-020E81BCA02F}">
  <ds:schemaRefs>
    <ds:schemaRef ds:uri="270cb159-b33f-4f8a-84dd-b7f3872913f3"/>
    <ds:schemaRef ds:uri="308a87a8-1a48-46c4-a367-2871a077d9fc"/>
    <ds:schemaRef ds:uri="37632fa0-411f-4886-b19a-0e04ec7fbf4f"/>
    <ds:schemaRef ds:uri="e01eab56-f1e3-47ed-ad7a-800f289c19d3"/>
    <ds:schemaRef ds:uri="http://schemas.microsoft.com/office/2006/metadata/properties"/>
    <ds:schemaRef ds:uri="http://schemas.microsoft.com/office/infopath/2007/PartnerControls"/>
    <ds:schemaRef ds:uri="http://schemas.microsoft.com/sharepoint/v3"/>
    <ds:schemaRef ds:uri="a019596b-07bb-4fe5-8e66-74a257598ac6"/>
    <ds:schemaRef ds:uri="ffb7da5c-17e6-424c-ac0d-2075003745a6"/>
  </ds:schemaRefs>
</ds:datastoreItem>
</file>

<file path=customXml/itemProps3.xml><?xml version="1.0" encoding="utf-8"?>
<ds:datastoreItem xmlns:ds="http://schemas.openxmlformats.org/officeDocument/2006/customXml" ds:itemID="{ED448897-C2AD-4378-9229-8C586B4352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b7da5c-17e6-424c-ac0d-2075003745a6"/>
    <ds:schemaRef ds:uri="a019596b-07bb-4fe5-8e66-74a257598a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469</Words>
  <Application>Microsoft Office PowerPoint</Application>
  <PresentationFormat>Widescreen</PresentationFormat>
  <Paragraphs>46</Paragraphs>
  <Slides>17</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Aptos</vt:lpstr>
      <vt:lpstr>Arial</vt:lpstr>
      <vt:lpstr>Calibri</vt:lpstr>
      <vt:lpstr>Calibri Light</vt:lpstr>
      <vt:lpstr>Cantarell</vt:lpstr>
      <vt:lpstr>Helvetica 35 Thin</vt:lpstr>
      <vt:lpstr>Impact</vt:lpstr>
      <vt:lpstr>inherit</vt:lpstr>
      <vt:lpstr>League Spartan</vt:lpstr>
      <vt:lpstr>Trade Gothic LT Std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Toronto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Emily Wright</dc:creator>
  <cp:lastModifiedBy>Timothy Bender</cp:lastModifiedBy>
  <cp:revision>2</cp:revision>
  <dcterms:created xsi:type="dcterms:W3CDTF">2019-05-14T17:41:51Z</dcterms:created>
  <dcterms:modified xsi:type="dcterms:W3CDTF">2026-10-01T11:01:02Z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0x01010023745AF06AD277448C00178C5E687B57</vt:lpwstr>
  </property>
  <property fmtid="{D5CDD505-2E9C-101B-9397-08002B2CF9AE}" pid="3" name="MediaServiceImageTags">
    <vt:lpwstr/>
  </property>
</Properties>
</file>